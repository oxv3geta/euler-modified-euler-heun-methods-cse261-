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nton" charset="1" panose="00000500000000000000"/>
      <p:regular r:id="rId25"/>
    </p:embeddedFont>
    <p:embeddedFont>
      <p:font typeface="Canva Sans Bold" charset="1" panose="020B0803030501040103"/>
      <p:regular r:id="rId26"/>
    </p:embeddedFont>
    <p:embeddedFont>
      <p:font typeface="Agrandir Bold" charset="1" panose="00000800000000000000"/>
      <p:regular r:id="rId27"/>
    </p:embeddedFont>
    <p:embeddedFont>
      <p:font typeface="Agrandir" charset="1" panose="00000500000000000000"/>
      <p:regular r:id="rId28"/>
    </p:embeddedFont>
    <p:embeddedFont>
      <p:font typeface="Arimo Bold" charset="1" panose="020B07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0C2756">
                <a:alpha val="100000"/>
              </a:srgbClr>
            </a:gs>
            <a:gs pos="100000">
              <a:srgbClr val="1E527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3777266" y="3496989"/>
            <a:ext cx="11275265" cy="4172786"/>
          </a:xfrm>
          <a:prstGeom prst="rect">
            <a:avLst/>
          </a:prstGeom>
        </p:spPr>
        <p:txBody>
          <a:bodyPr anchor="t" rtlCol="false" tIns="0" lIns="0" bIns="0" rIns="0">
            <a:spAutoFit/>
          </a:bodyPr>
          <a:lstStyle/>
          <a:p>
            <a:pPr algn="ctr">
              <a:lnSpc>
                <a:spcPts val="8147"/>
              </a:lnSpc>
            </a:pPr>
            <a:r>
              <a:rPr lang="en-US" sz="7834">
                <a:solidFill>
                  <a:srgbClr val="FFFFFF"/>
                </a:solidFill>
                <a:latin typeface="Anton"/>
                <a:ea typeface="Anton"/>
                <a:cs typeface="Anton"/>
                <a:sym typeface="Anton"/>
              </a:rPr>
              <a:t>NUMERICAL ANALYSIS OF ORDINARY DIFFERENTIAL EQUATIONS</a:t>
            </a:r>
          </a:p>
          <a:p>
            <a:pPr algn="ctr">
              <a:lnSpc>
                <a:spcPts val="8147"/>
              </a:lnSpc>
            </a:pPr>
          </a:p>
        </p:txBody>
      </p:sp>
      <p:sp>
        <p:nvSpPr>
          <p:cNvPr name="TextBox 3" id="3"/>
          <p:cNvSpPr txBox="true"/>
          <p:nvPr/>
        </p:nvSpPr>
        <p:spPr>
          <a:xfrm rot="0">
            <a:off x="3777266" y="7011126"/>
            <a:ext cx="11715274" cy="1250625"/>
          </a:xfrm>
          <a:prstGeom prst="rect">
            <a:avLst/>
          </a:prstGeom>
        </p:spPr>
        <p:txBody>
          <a:bodyPr anchor="t" rtlCol="false" tIns="0" lIns="0" bIns="0" rIns="0">
            <a:spAutoFit/>
          </a:bodyPr>
          <a:lstStyle/>
          <a:p>
            <a:pPr algn="ctr">
              <a:lnSpc>
                <a:spcPts val="5162"/>
              </a:lnSpc>
            </a:pPr>
            <a:r>
              <a:rPr lang="en-US" sz="3687" b="true">
                <a:solidFill>
                  <a:srgbClr val="FFFFFF"/>
                </a:solidFill>
                <a:latin typeface="Canva Sans Bold"/>
                <a:ea typeface="Canva Sans Bold"/>
                <a:cs typeface="Canva Sans Bold"/>
                <a:sym typeface="Canva Sans Bold"/>
              </a:rPr>
              <a:t>Euler’s Method, Heun’s Method &amp; Midpoint Method</a:t>
            </a:r>
          </a:p>
          <a:p>
            <a:pPr algn="ctr">
              <a:lnSpc>
                <a:spcPts val="5022"/>
              </a:lnSpc>
            </a:pPr>
          </a:p>
        </p:txBody>
      </p:sp>
      <p:sp>
        <p:nvSpPr>
          <p:cNvPr name="TextBox 4" id="4"/>
          <p:cNvSpPr txBox="true"/>
          <p:nvPr/>
        </p:nvSpPr>
        <p:spPr>
          <a:xfrm rot="0">
            <a:off x="5708273" y="8870493"/>
            <a:ext cx="6871454" cy="747039"/>
          </a:xfrm>
          <a:prstGeom prst="rect">
            <a:avLst/>
          </a:prstGeom>
        </p:spPr>
        <p:txBody>
          <a:bodyPr anchor="t" rtlCol="false" tIns="0" lIns="0" bIns="0" rIns="0">
            <a:spAutoFit/>
          </a:bodyPr>
          <a:lstStyle/>
          <a:p>
            <a:pPr algn="ctr">
              <a:lnSpc>
                <a:spcPts val="2646"/>
              </a:lnSpc>
              <a:spcBef>
                <a:spcPct val="0"/>
              </a:spcBef>
            </a:pPr>
            <a:r>
              <a:rPr lang="en-US" b="true" sz="2544">
                <a:solidFill>
                  <a:srgbClr val="FFFFFF"/>
                </a:solidFill>
                <a:latin typeface="Agrandir Bold"/>
                <a:ea typeface="Agrandir Bold"/>
                <a:cs typeface="Agrandir Bold"/>
                <a:sym typeface="Agrandir Bold"/>
              </a:rPr>
              <a:t>COURSE: CSE261 – NUMERICAL METHODS</a:t>
            </a:r>
          </a:p>
          <a:p>
            <a:pPr algn="ctr">
              <a:lnSpc>
                <a:spcPts val="2646"/>
              </a:lnSpc>
              <a:spcBef>
                <a:spcPct val="0"/>
              </a:spcBef>
            </a:pPr>
            <a:r>
              <a:rPr lang="en-US" b="true" sz="2544">
                <a:solidFill>
                  <a:srgbClr val="FFFFFF"/>
                </a:solidFill>
                <a:latin typeface="Agrandir Bold"/>
                <a:ea typeface="Agrandir Bold"/>
                <a:cs typeface="Agrandir Bold"/>
                <a:sym typeface="Agrandir Bold"/>
              </a:rPr>
              <a:t>SECTION: ALL SECTIONS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5646560" y="1950246"/>
            <a:ext cx="6036947" cy="2778996"/>
          </a:xfrm>
          <a:prstGeom prst="rect">
            <a:avLst/>
          </a:prstGeom>
        </p:spPr>
        <p:txBody>
          <a:bodyPr anchor="t" rtlCol="false" tIns="0" lIns="0" bIns="0" rIns="0">
            <a:spAutoFit/>
          </a:bodyPr>
          <a:lstStyle/>
          <a:p>
            <a:pPr algn="ctr">
              <a:lnSpc>
                <a:spcPts val="5489"/>
              </a:lnSpc>
            </a:pPr>
            <a:r>
              <a:rPr lang="en-US" sz="5277">
                <a:solidFill>
                  <a:srgbClr val="050056"/>
                </a:solidFill>
                <a:latin typeface="Anton"/>
                <a:ea typeface="Anton"/>
                <a:cs typeface="Anton"/>
                <a:sym typeface="Anton"/>
              </a:rPr>
              <a:t>NUMERICAL ANALYSIS OF ODES: ACCURACY AND CONVERGENCE</a:t>
            </a:r>
          </a:p>
          <a:p>
            <a:pPr algn="ctr">
              <a:lnSpc>
                <a:spcPts val="5489"/>
              </a:lnSpc>
            </a:pPr>
          </a:p>
        </p:txBody>
      </p:sp>
      <p:sp>
        <p:nvSpPr>
          <p:cNvPr name="TextBox 7" id="7"/>
          <p:cNvSpPr txBox="true"/>
          <p:nvPr/>
        </p:nvSpPr>
        <p:spPr>
          <a:xfrm rot="0">
            <a:off x="5250478" y="4624467"/>
            <a:ext cx="7787044" cy="2743398"/>
          </a:xfrm>
          <a:prstGeom prst="rect">
            <a:avLst/>
          </a:prstGeom>
        </p:spPr>
        <p:txBody>
          <a:bodyPr anchor="t" rtlCol="false" tIns="0" lIns="0" bIns="0" rIns="0">
            <a:spAutoFit/>
          </a:bodyPr>
          <a:lstStyle/>
          <a:p>
            <a:pPr algn="ctr">
              <a:lnSpc>
                <a:spcPts val="3574"/>
              </a:lnSpc>
            </a:pPr>
            <a:r>
              <a:rPr lang="en-US" sz="2667">
                <a:solidFill>
                  <a:srgbClr val="050056"/>
                </a:solidFill>
                <a:latin typeface="Agrandir"/>
                <a:ea typeface="Agrandir"/>
                <a:cs typeface="Agrandir"/>
                <a:sym typeface="Agrandir"/>
              </a:rPr>
              <a:t>This presentation delves into the intricacies of numerical methods, with a particular focus on their accuracy and convergence properties when applied to Ordinary Differential Equations (ODEs).</a:t>
            </a:r>
          </a:p>
          <a:p>
            <a:pPr algn="ctr">
              <a:lnSpc>
                <a:spcPts val="3574"/>
              </a:lnSpc>
            </a:pPr>
          </a:p>
        </p:txBody>
      </p:sp>
      <p:sp>
        <p:nvSpPr>
          <p:cNvPr name="TextBox 8" id="8"/>
          <p:cNvSpPr txBox="true"/>
          <p:nvPr/>
        </p:nvSpPr>
        <p:spPr>
          <a:xfrm rot="0">
            <a:off x="3802632" y="4156957"/>
            <a:ext cx="11073289" cy="392582"/>
          </a:xfrm>
          <a:prstGeom prst="rect">
            <a:avLst/>
          </a:prstGeom>
        </p:spPr>
        <p:txBody>
          <a:bodyPr anchor="t" rtlCol="false" tIns="0" lIns="0" bIns="0" rIns="0">
            <a:spAutoFit/>
          </a:bodyPr>
          <a:lstStyle/>
          <a:p>
            <a:pPr algn="ctr">
              <a:lnSpc>
                <a:spcPts val="2542"/>
              </a:lnSpc>
              <a:spcBef>
                <a:spcPct val="0"/>
              </a:spcBef>
            </a:pPr>
            <a:r>
              <a:rPr lang="en-US" b="true" sz="2445">
                <a:solidFill>
                  <a:srgbClr val="050056"/>
                </a:solidFill>
                <a:latin typeface="Agrandir Bold"/>
                <a:ea typeface="Agrandir Bold"/>
                <a:cs typeface="Agrandir Bold"/>
                <a:sym typeface="Agrandir Bold"/>
              </a:rPr>
              <a:t>TOPIC: NUMERICAL ANALYSIS OF ORDINARY DIFFERENTIAL EQUATIONS</a:t>
            </a:r>
          </a:p>
        </p:txBody>
      </p:sp>
      <p:sp>
        <p:nvSpPr>
          <p:cNvPr name="TextBox 9" id="9"/>
          <p:cNvSpPr txBox="true"/>
          <p:nvPr/>
        </p:nvSpPr>
        <p:spPr>
          <a:xfrm rot="0">
            <a:off x="7835545" y="6832451"/>
            <a:ext cx="9504117" cy="3438172"/>
          </a:xfrm>
          <a:prstGeom prst="rect">
            <a:avLst/>
          </a:prstGeom>
        </p:spPr>
        <p:txBody>
          <a:bodyPr anchor="t" rtlCol="false" tIns="0" lIns="0" bIns="0" rIns="0">
            <a:spAutoFit/>
          </a:bodyPr>
          <a:lstStyle/>
          <a:p>
            <a:pPr algn="ctr">
              <a:lnSpc>
                <a:spcPts val="2419"/>
              </a:lnSpc>
              <a:spcBef>
                <a:spcPct val="0"/>
              </a:spcBef>
            </a:pPr>
            <a:r>
              <a:rPr lang="en-US" b="true" sz="2326">
                <a:solidFill>
                  <a:srgbClr val="050056"/>
                </a:solidFill>
                <a:latin typeface="Agrandir Bold"/>
                <a:ea typeface="Agrandir Bold"/>
                <a:cs typeface="Agrandir Bold"/>
                <a:sym typeface="Agrandir Bold"/>
              </a:rPr>
              <a:t>STUDENT NAME                 STUDENT ID</a:t>
            </a:r>
          </a:p>
          <a:p>
            <a:pPr algn="ctr">
              <a:lnSpc>
                <a:spcPts val="2419"/>
              </a:lnSpc>
              <a:spcBef>
                <a:spcPct val="0"/>
              </a:spcBef>
            </a:pPr>
            <a:r>
              <a:rPr lang="en-US" sz="2326">
                <a:solidFill>
                  <a:srgbClr val="050056"/>
                </a:solidFill>
                <a:latin typeface="Agrandir"/>
                <a:ea typeface="Agrandir"/>
                <a:cs typeface="Agrandir"/>
                <a:sym typeface="Agrandir"/>
              </a:rPr>
              <a:t>     TAREK HOSSIAN                  2024100000382</a:t>
            </a:r>
          </a:p>
          <a:p>
            <a:pPr algn="ctr">
              <a:lnSpc>
                <a:spcPts val="2419"/>
              </a:lnSpc>
              <a:spcBef>
                <a:spcPct val="0"/>
              </a:spcBef>
            </a:pPr>
            <a:r>
              <a:rPr lang="en-US" sz="2326">
                <a:solidFill>
                  <a:srgbClr val="050056"/>
                </a:solidFill>
                <a:latin typeface="Agrandir"/>
                <a:ea typeface="Agrandir"/>
                <a:cs typeface="Agrandir"/>
                <a:sym typeface="Agrandir"/>
              </a:rPr>
              <a:t>NURA NUSRAT JANNAT            2024000000320</a:t>
            </a:r>
          </a:p>
          <a:p>
            <a:pPr algn="ctr">
              <a:lnSpc>
                <a:spcPts val="2419"/>
              </a:lnSpc>
              <a:spcBef>
                <a:spcPct val="0"/>
              </a:spcBef>
            </a:pPr>
            <a:r>
              <a:rPr lang="en-US" sz="2326">
                <a:solidFill>
                  <a:srgbClr val="050056"/>
                </a:solidFill>
                <a:latin typeface="Agrandir"/>
                <a:ea typeface="Agrandir"/>
                <a:cs typeface="Agrandir"/>
                <a:sym typeface="Agrandir"/>
              </a:rPr>
              <a:t>PRITOM CHOWDHURY             2024000000007</a:t>
            </a:r>
          </a:p>
          <a:p>
            <a:pPr algn="ctr">
              <a:lnSpc>
                <a:spcPts val="2419"/>
              </a:lnSpc>
              <a:spcBef>
                <a:spcPct val="0"/>
              </a:spcBef>
            </a:pPr>
            <a:r>
              <a:rPr lang="en-US" sz="2326">
                <a:solidFill>
                  <a:srgbClr val="050056"/>
                </a:solidFill>
                <a:latin typeface="Agrandir"/>
                <a:ea typeface="Agrandir"/>
                <a:cs typeface="Agrandir"/>
                <a:sym typeface="Agrandir"/>
              </a:rPr>
              <a:t>MUNTAHA HASNAT PRIONTY   2024000000033</a:t>
            </a:r>
          </a:p>
          <a:p>
            <a:pPr algn="ctr">
              <a:lnSpc>
                <a:spcPts val="2419"/>
              </a:lnSpc>
              <a:spcBef>
                <a:spcPct val="0"/>
              </a:spcBef>
            </a:pPr>
            <a:r>
              <a:rPr lang="en-US" sz="2326">
                <a:solidFill>
                  <a:srgbClr val="050056"/>
                </a:solidFill>
                <a:latin typeface="Agrandir"/>
                <a:ea typeface="Agrandir"/>
                <a:cs typeface="Agrandir"/>
                <a:sym typeface="Agrandir"/>
              </a:rPr>
              <a:t>MESBAH UDDIN MOLLA          2024000000105</a:t>
            </a:r>
          </a:p>
          <a:p>
            <a:pPr algn="ctr">
              <a:lnSpc>
                <a:spcPts val="2419"/>
              </a:lnSpc>
              <a:spcBef>
                <a:spcPct val="0"/>
              </a:spcBef>
            </a:pPr>
            <a:r>
              <a:rPr lang="en-US" sz="2326">
                <a:solidFill>
                  <a:srgbClr val="050056"/>
                </a:solidFill>
                <a:latin typeface="Agrandir"/>
                <a:ea typeface="Agrandir"/>
                <a:cs typeface="Agrandir"/>
                <a:sym typeface="Agrandir"/>
              </a:rPr>
              <a:t>SUMAIYA AKTER MIM              2024100000265</a:t>
            </a:r>
          </a:p>
          <a:p>
            <a:pPr algn="ctr">
              <a:lnSpc>
                <a:spcPts val="2419"/>
              </a:lnSpc>
              <a:spcBef>
                <a:spcPct val="0"/>
              </a:spcBef>
            </a:pPr>
            <a:r>
              <a:rPr lang="en-US" sz="2326">
                <a:solidFill>
                  <a:srgbClr val="050056"/>
                </a:solidFill>
                <a:latin typeface="Agrandir"/>
                <a:ea typeface="Agrandir"/>
                <a:cs typeface="Agrandir"/>
                <a:sym typeface="Agrandir"/>
              </a:rPr>
              <a:t>ASIFUR RAHMAN ASIF              2024000000330</a:t>
            </a:r>
          </a:p>
          <a:p>
            <a:pPr algn="ctr">
              <a:lnSpc>
                <a:spcPts val="2419"/>
              </a:lnSpc>
              <a:spcBef>
                <a:spcPct val="0"/>
              </a:spcBef>
            </a:pPr>
            <a:r>
              <a:rPr lang="en-US" sz="2326">
                <a:solidFill>
                  <a:srgbClr val="050056"/>
                </a:solidFill>
                <a:latin typeface="Agrandir"/>
                <a:ea typeface="Agrandir"/>
                <a:cs typeface="Agrandir"/>
                <a:sym typeface="Agrandir"/>
              </a:rPr>
              <a:t>RIYAD UZ ZAMAN                     2024000000231</a:t>
            </a:r>
          </a:p>
          <a:p>
            <a:pPr algn="ctr">
              <a:lnSpc>
                <a:spcPts val="2419"/>
              </a:lnSpc>
              <a:spcBef>
                <a:spcPct val="0"/>
              </a:spcBef>
            </a:pPr>
            <a:r>
              <a:rPr lang="en-US" sz="2326">
                <a:solidFill>
                  <a:srgbClr val="050056"/>
                </a:solidFill>
                <a:latin typeface="Agrandir"/>
                <a:ea typeface="Agrandir"/>
                <a:cs typeface="Agrandir"/>
                <a:sym typeface="Agrandir"/>
              </a:rPr>
              <a:t>TAWFIQ AL IBAD                       2024000000068</a:t>
            </a:r>
          </a:p>
          <a:p>
            <a:pPr algn="ctr">
              <a:lnSpc>
                <a:spcPts val="2419"/>
              </a:lnSpc>
              <a:spcBef>
                <a:spcPct val="0"/>
              </a:spcBef>
            </a:pPr>
            <a:r>
              <a:rPr lang="en-US" sz="2326">
                <a:solidFill>
                  <a:srgbClr val="050056"/>
                </a:solidFill>
                <a:latin typeface="Agrandir"/>
                <a:ea typeface="Agrandir"/>
                <a:cs typeface="Agrandir"/>
                <a:sym typeface="Agrandir"/>
              </a:rPr>
              <a:t>MAHJABEEN TUR                    2024200000319</a:t>
            </a:r>
          </a:p>
        </p:txBody>
      </p:sp>
      <p:sp>
        <p:nvSpPr>
          <p:cNvPr name="TextBox 10" id="10"/>
          <p:cNvSpPr txBox="true"/>
          <p:nvPr/>
        </p:nvSpPr>
        <p:spPr>
          <a:xfrm rot="0">
            <a:off x="4086016" y="8119264"/>
            <a:ext cx="3922446" cy="816921"/>
          </a:xfrm>
          <a:prstGeom prst="rect">
            <a:avLst/>
          </a:prstGeom>
        </p:spPr>
        <p:txBody>
          <a:bodyPr anchor="t" rtlCol="false" tIns="0" lIns="0" bIns="0" rIns="0">
            <a:spAutoFit/>
          </a:bodyPr>
          <a:lstStyle/>
          <a:p>
            <a:pPr algn="ctr">
              <a:lnSpc>
                <a:spcPts val="6722"/>
              </a:lnSpc>
            </a:pPr>
            <a:r>
              <a:rPr lang="en-US" sz="4801" b="true">
                <a:solidFill>
                  <a:srgbClr val="050056"/>
                </a:solidFill>
                <a:latin typeface="Canva Sans Bold"/>
                <a:ea typeface="Canva Sans Bold"/>
                <a:cs typeface="Canva Sans Bold"/>
                <a:sym typeface="Canva Sans Bold"/>
              </a:rPr>
              <a:t>Presented by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pSp>
        <p:nvGrpSpPr>
          <p:cNvPr name="Group 6" id="6"/>
          <p:cNvGrpSpPr/>
          <p:nvPr/>
        </p:nvGrpSpPr>
        <p:grpSpPr>
          <a:xfrm rot="0">
            <a:off x="203275" y="3153392"/>
            <a:ext cx="4051704" cy="4051704"/>
            <a:chOff x="0" y="0"/>
            <a:chExt cx="5402272" cy="5402272"/>
          </a:xfrm>
        </p:grpSpPr>
        <p:sp>
          <p:nvSpPr>
            <p:cNvPr name="Freeform 7" id="7"/>
            <p:cNvSpPr/>
            <p:nvPr/>
          </p:nvSpPr>
          <p:spPr>
            <a:xfrm flipH="false" flipV="false" rot="0">
              <a:off x="0" y="0"/>
              <a:ext cx="5402272" cy="5402272"/>
            </a:xfrm>
            <a:custGeom>
              <a:avLst/>
              <a:gdLst/>
              <a:ahLst/>
              <a:cxnLst/>
              <a:rect r="r" b="b" t="t" l="l"/>
              <a:pathLst>
                <a:path h="5402272" w="5402272">
                  <a:moveTo>
                    <a:pt x="0" y="0"/>
                  </a:moveTo>
                  <a:lnTo>
                    <a:pt x="5402272" y="0"/>
                  </a:lnTo>
                  <a:lnTo>
                    <a:pt x="5402272" y="5402272"/>
                  </a:lnTo>
                  <a:lnTo>
                    <a:pt x="0" y="54022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69861" y="1530803"/>
              <a:ext cx="3862550" cy="2397816"/>
            </a:xfrm>
            <a:prstGeom prst="rect">
              <a:avLst/>
            </a:prstGeom>
          </p:spPr>
          <p:txBody>
            <a:bodyPr anchor="t" rtlCol="false" tIns="0" lIns="0" bIns="0" rIns="0">
              <a:spAutoFit/>
            </a:bodyPr>
            <a:lstStyle/>
            <a:p>
              <a:pPr algn="l">
                <a:lnSpc>
                  <a:spcPts val="3690"/>
                </a:lnSpc>
              </a:pPr>
              <a:r>
                <a:rPr lang="en-US" sz="3548">
                  <a:solidFill>
                    <a:srgbClr val="050056"/>
                  </a:solidFill>
                  <a:latin typeface="Anton"/>
                  <a:ea typeface="Anton"/>
                  <a:cs typeface="Anton"/>
                  <a:sym typeface="Anton"/>
                </a:rPr>
                <a:t>INTRODUCTION TO NUMERICAL SOLUTIONS</a:t>
              </a:r>
            </a:p>
            <a:p>
              <a:pPr algn="l">
                <a:lnSpc>
                  <a:spcPts val="2972"/>
                </a:lnSpc>
              </a:pPr>
            </a:p>
          </p:txBody>
        </p:sp>
      </p:grpSp>
      <p:grpSp>
        <p:nvGrpSpPr>
          <p:cNvPr name="Group 9" id="9"/>
          <p:cNvGrpSpPr/>
          <p:nvPr/>
        </p:nvGrpSpPr>
        <p:grpSpPr>
          <a:xfrm rot="0">
            <a:off x="4785129" y="2163638"/>
            <a:ext cx="4144557" cy="989754"/>
            <a:chOff x="0" y="0"/>
            <a:chExt cx="5526076" cy="1319673"/>
          </a:xfrm>
        </p:grpSpPr>
        <p:grpSp>
          <p:nvGrpSpPr>
            <p:cNvPr name="Group 10" id="10"/>
            <p:cNvGrpSpPr/>
            <p:nvPr/>
          </p:nvGrpSpPr>
          <p:grpSpPr>
            <a:xfrm rot="0">
              <a:off x="0" y="0"/>
              <a:ext cx="5526076" cy="1319673"/>
              <a:chOff x="0" y="0"/>
              <a:chExt cx="1017514" cy="242991"/>
            </a:xfrm>
          </p:grpSpPr>
          <p:sp>
            <p:nvSpPr>
              <p:cNvPr name="Freeform 11" id="11"/>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12" id="12"/>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sp>
          <p:nvSpPr>
            <p:cNvPr name="TextBox 13" id="13"/>
            <p:cNvSpPr txBox="true"/>
            <p:nvPr/>
          </p:nvSpPr>
          <p:spPr>
            <a:xfrm rot="0">
              <a:off x="1853198" y="130869"/>
              <a:ext cx="2897582" cy="1115451"/>
            </a:xfrm>
            <a:prstGeom prst="rect">
              <a:avLst/>
            </a:prstGeom>
          </p:spPr>
          <p:txBody>
            <a:bodyPr anchor="t" rtlCol="false" tIns="0" lIns="0" bIns="0" rIns="0">
              <a:spAutoFit/>
            </a:bodyPr>
            <a:lstStyle/>
            <a:p>
              <a:pPr algn="l">
                <a:lnSpc>
                  <a:spcPts val="3172"/>
                </a:lnSpc>
              </a:pPr>
              <a:r>
                <a:rPr lang="en-US" sz="2367">
                  <a:solidFill>
                    <a:srgbClr val="FFFFFF"/>
                  </a:solidFill>
                  <a:latin typeface="Agrandir"/>
                  <a:ea typeface="Agrandir"/>
                  <a:cs typeface="Agrandir"/>
                  <a:sym typeface="Agrandir"/>
                </a:rPr>
                <a:t>Real world Systems</a:t>
              </a:r>
            </a:p>
          </p:txBody>
        </p:sp>
        <p:grpSp>
          <p:nvGrpSpPr>
            <p:cNvPr name="Group 14" id="14"/>
            <p:cNvGrpSpPr/>
            <p:nvPr/>
          </p:nvGrpSpPr>
          <p:grpSpPr>
            <a:xfrm rot="0">
              <a:off x="0" y="0"/>
              <a:ext cx="1442529" cy="1319673"/>
              <a:chOff x="0" y="0"/>
              <a:chExt cx="265612" cy="242991"/>
            </a:xfrm>
          </p:grpSpPr>
          <p:sp>
            <p:nvSpPr>
              <p:cNvPr name="Freeform 15" id="15"/>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6" id="16"/>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17" id="17"/>
            <p:cNvSpPr txBox="true"/>
            <p:nvPr/>
          </p:nvSpPr>
          <p:spPr>
            <a:xfrm rot="0">
              <a:off x="379398" y="271636"/>
              <a:ext cx="1063132" cy="66210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01.</a:t>
              </a:r>
            </a:p>
          </p:txBody>
        </p:sp>
      </p:grpSp>
      <p:grpSp>
        <p:nvGrpSpPr>
          <p:cNvPr name="Group 18" id="18"/>
          <p:cNvGrpSpPr/>
          <p:nvPr/>
        </p:nvGrpSpPr>
        <p:grpSpPr>
          <a:xfrm rot="0">
            <a:off x="4785129" y="3980075"/>
            <a:ext cx="4144557" cy="989754"/>
            <a:chOff x="0" y="0"/>
            <a:chExt cx="5526076" cy="1319673"/>
          </a:xfrm>
        </p:grpSpPr>
        <p:grpSp>
          <p:nvGrpSpPr>
            <p:cNvPr name="Group 19" id="19"/>
            <p:cNvGrpSpPr/>
            <p:nvPr/>
          </p:nvGrpSpPr>
          <p:grpSpPr>
            <a:xfrm rot="0">
              <a:off x="0" y="0"/>
              <a:ext cx="5526076" cy="1319673"/>
              <a:chOff x="0" y="0"/>
              <a:chExt cx="1017514" cy="242991"/>
            </a:xfrm>
          </p:grpSpPr>
          <p:sp>
            <p:nvSpPr>
              <p:cNvPr name="Freeform 20" id="20"/>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21" id="21"/>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sp>
          <p:nvSpPr>
            <p:cNvPr name="TextBox 22" id="22"/>
            <p:cNvSpPr txBox="true"/>
            <p:nvPr/>
          </p:nvSpPr>
          <p:spPr>
            <a:xfrm rot="0">
              <a:off x="1940409" y="141706"/>
              <a:ext cx="2897582" cy="1065140"/>
            </a:xfrm>
            <a:prstGeom prst="rect">
              <a:avLst/>
            </a:prstGeom>
          </p:spPr>
          <p:txBody>
            <a:bodyPr anchor="t" rtlCol="false" tIns="0" lIns="0" bIns="0" rIns="0">
              <a:spAutoFit/>
            </a:bodyPr>
            <a:lstStyle/>
            <a:p>
              <a:pPr algn="l">
                <a:lnSpc>
                  <a:spcPts val="2978"/>
                </a:lnSpc>
              </a:pPr>
              <a:r>
                <a:rPr lang="en-US" sz="2567">
                  <a:solidFill>
                    <a:srgbClr val="FFFFFF"/>
                  </a:solidFill>
                  <a:latin typeface="Agrandir"/>
                  <a:ea typeface="Agrandir"/>
                  <a:cs typeface="Agrandir"/>
                  <a:sym typeface="Agrandir"/>
                </a:rPr>
                <a:t>Analytical Limitations</a:t>
              </a:r>
            </a:p>
          </p:txBody>
        </p:sp>
        <p:grpSp>
          <p:nvGrpSpPr>
            <p:cNvPr name="Group 23" id="23"/>
            <p:cNvGrpSpPr/>
            <p:nvPr/>
          </p:nvGrpSpPr>
          <p:grpSpPr>
            <a:xfrm rot="0">
              <a:off x="0" y="0"/>
              <a:ext cx="1442529" cy="1319673"/>
              <a:chOff x="0" y="0"/>
              <a:chExt cx="265612" cy="242991"/>
            </a:xfrm>
          </p:grpSpPr>
          <p:sp>
            <p:nvSpPr>
              <p:cNvPr name="Freeform 24" id="24"/>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25" id="25"/>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26" id="26"/>
            <p:cNvSpPr txBox="true"/>
            <p:nvPr/>
          </p:nvSpPr>
          <p:spPr>
            <a:xfrm rot="0">
              <a:off x="379398" y="271636"/>
              <a:ext cx="1063132" cy="66210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02.</a:t>
              </a:r>
            </a:p>
          </p:txBody>
        </p:sp>
      </p:grpSp>
      <p:grpSp>
        <p:nvGrpSpPr>
          <p:cNvPr name="Group 27" id="27"/>
          <p:cNvGrpSpPr/>
          <p:nvPr/>
        </p:nvGrpSpPr>
        <p:grpSpPr>
          <a:xfrm rot="0">
            <a:off x="4785129" y="8268546"/>
            <a:ext cx="4144557" cy="989754"/>
            <a:chOff x="0" y="0"/>
            <a:chExt cx="5526076" cy="1319673"/>
          </a:xfrm>
        </p:grpSpPr>
        <p:grpSp>
          <p:nvGrpSpPr>
            <p:cNvPr name="Group 28" id="28"/>
            <p:cNvGrpSpPr/>
            <p:nvPr/>
          </p:nvGrpSpPr>
          <p:grpSpPr>
            <a:xfrm rot="0">
              <a:off x="0" y="0"/>
              <a:ext cx="5526076" cy="1319673"/>
              <a:chOff x="0" y="0"/>
              <a:chExt cx="1017514" cy="242991"/>
            </a:xfrm>
          </p:grpSpPr>
          <p:sp>
            <p:nvSpPr>
              <p:cNvPr name="Freeform 29" id="29"/>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30" id="30"/>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sp>
          <p:nvSpPr>
            <p:cNvPr name="TextBox 31" id="31"/>
            <p:cNvSpPr txBox="true"/>
            <p:nvPr/>
          </p:nvSpPr>
          <p:spPr>
            <a:xfrm rot="0">
              <a:off x="1913852" y="154748"/>
              <a:ext cx="2897582" cy="987135"/>
            </a:xfrm>
            <a:prstGeom prst="rect">
              <a:avLst/>
            </a:prstGeom>
          </p:spPr>
          <p:txBody>
            <a:bodyPr anchor="t" rtlCol="false" tIns="0" lIns="0" bIns="0" rIns="0">
              <a:spAutoFit/>
            </a:bodyPr>
            <a:lstStyle/>
            <a:p>
              <a:pPr algn="l">
                <a:lnSpc>
                  <a:spcPts val="2670"/>
                </a:lnSpc>
              </a:pPr>
              <a:r>
                <a:rPr lang="en-US" sz="2567">
                  <a:solidFill>
                    <a:srgbClr val="FFFFFF"/>
                  </a:solidFill>
                  <a:latin typeface="Agrandir"/>
                  <a:ea typeface="Agrandir"/>
                  <a:cs typeface="Agrandir"/>
                  <a:sym typeface="Agrandir"/>
                </a:rPr>
                <a:t>Comparative Analysis</a:t>
              </a:r>
            </a:p>
          </p:txBody>
        </p:sp>
        <p:grpSp>
          <p:nvGrpSpPr>
            <p:cNvPr name="Group 32" id="32"/>
            <p:cNvGrpSpPr/>
            <p:nvPr/>
          </p:nvGrpSpPr>
          <p:grpSpPr>
            <a:xfrm rot="0">
              <a:off x="0" y="0"/>
              <a:ext cx="1442529" cy="1319673"/>
              <a:chOff x="0" y="0"/>
              <a:chExt cx="265612" cy="242991"/>
            </a:xfrm>
          </p:grpSpPr>
          <p:sp>
            <p:nvSpPr>
              <p:cNvPr name="Freeform 33" id="33"/>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34" id="34"/>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35" id="35"/>
            <p:cNvSpPr txBox="true"/>
            <p:nvPr/>
          </p:nvSpPr>
          <p:spPr>
            <a:xfrm rot="0">
              <a:off x="379398" y="271636"/>
              <a:ext cx="1063132" cy="66210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04.</a:t>
              </a:r>
            </a:p>
          </p:txBody>
        </p:sp>
      </p:grpSp>
      <p:sp>
        <p:nvSpPr>
          <p:cNvPr name="TextBox 36" id="36"/>
          <p:cNvSpPr txBox="true"/>
          <p:nvPr/>
        </p:nvSpPr>
        <p:spPr>
          <a:xfrm rot="0">
            <a:off x="9144000" y="2209113"/>
            <a:ext cx="8781015" cy="900837"/>
          </a:xfrm>
          <a:prstGeom prst="rect">
            <a:avLst/>
          </a:prstGeom>
        </p:spPr>
        <p:txBody>
          <a:bodyPr anchor="t" rtlCol="false" tIns="0" lIns="0" bIns="0" rIns="0">
            <a:spAutoFit/>
          </a:bodyPr>
          <a:lstStyle/>
          <a:p>
            <a:pPr algn="ctr">
              <a:lnSpc>
                <a:spcPts val="2230"/>
              </a:lnSpc>
              <a:spcBef>
                <a:spcPct val="0"/>
              </a:spcBef>
            </a:pPr>
            <a:r>
              <a:rPr lang="en-US" b="true" sz="2145">
                <a:solidFill>
                  <a:srgbClr val="000000"/>
                </a:solidFill>
                <a:latin typeface="Agrandir Bold"/>
                <a:ea typeface="Agrandir Bold"/>
                <a:cs typeface="Agrandir Bold"/>
                <a:sym typeface="Agrandir Bold"/>
              </a:rPr>
              <a:t>Many phenomena in engineering, physics, and biology are elegantly described using Ordinary Differential Equations. From population dynamics to circuit analysis, ODEs are fundamental.</a:t>
            </a:r>
          </a:p>
        </p:txBody>
      </p:sp>
      <p:sp>
        <p:nvSpPr>
          <p:cNvPr name="TextBox 37" id="37"/>
          <p:cNvSpPr txBox="true"/>
          <p:nvPr/>
        </p:nvSpPr>
        <p:spPr>
          <a:xfrm rot="0">
            <a:off x="9901292" y="4025550"/>
            <a:ext cx="7661965" cy="900837"/>
          </a:xfrm>
          <a:prstGeom prst="rect">
            <a:avLst/>
          </a:prstGeom>
        </p:spPr>
        <p:txBody>
          <a:bodyPr anchor="t" rtlCol="false" tIns="0" lIns="0" bIns="0" rIns="0">
            <a:spAutoFit/>
          </a:bodyPr>
          <a:lstStyle/>
          <a:p>
            <a:pPr algn="ctr">
              <a:lnSpc>
                <a:spcPts val="2230"/>
              </a:lnSpc>
              <a:spcBef>
                <a:spcPct val="0"/>
              </a:spcBef>
            </a:pPr>
            <a:r>
              <a:rPr lang="en-US" b="true" sz="2145">
                <a:solidFill>
                  <a:srgbClr val="000000"/>
                </a:solidFill>
                <a:latin typeface="Agrandir Bold"/>
                <a:ea typeface="Agrandir Bold"/>
                <a:cs typeface="Agrandir Bold"/>
                <a:sym typeface="Agrandir Bold"/>
              </a:rPr>
              <a:t>While ODEs are powerful, finding exact analytical solutions is often impossible or highly complex. This necessitates alternative approaches.</a:t>
            </a:r>
          </a:p>
        </p:txBody>
      </p:sp>
      <p:sp>
        <p:nvSpPr>
          <p:cNvPr name="TextBox 38" id="38"/>
          <p:cNvSpPr txBox="true"/>
          <p:nvPr/>
        </p:nvSpPr>
        <p:spPr>
          <a:xfrm rot="0">
            <a:off x="9663402" y="6131717"/>
            <a:ext cx="8222077" cy="900837"/>
          </a:xfrm>
          <a:prstGeom prst="rect">
            <a:avLst/>
          </a:prstGeom>
        </p:spPr>
        <p:txBody>
          <a:bodyPr anchor="t" rtlCol="false" tIns="0" lIns="0" bIns="0" rIns="0">
            <a:spAutoFit/>
          </a:bodyPr>
          <a:lstStyle/>
          <a:p>
            <a:pPr algn="ctr">
              <a:lnSpc>
                <a:spcPts val="2230"/>
              </a:lnSpc>
              <a:spcBef>
                <a:spcPct val="0"/>
              </a:spcBef>
            </a:pPr>
            <a:r>
              <a:rPr lang="en-US" b="true" sz="2145">
                <a:solidFill>
                  <a:srgbClr val="000000"/>
                </a:solidFill>
                <a:latin typeface="Agrandir Bold"/>
                <a:ea typeface="Agrandir Bold"/>
                <a:cs typeface="Agrandir Bold"/>
                <a:sym typeface="Agrandir Bold"/>
              </a:rPr>
              <a:t>Numerical methods provide a powerful tool to approximate solutions to ODEs step-by-step, transforming continuous problems into discrete computations</a:t>
            </a:r>
          </a:p>
        </p:txBody>
      </p:sp>
      <p:grpSp>
        <p:nvGrpSpPr>
          <p:cNvPr name="Group 39" id="39"/>
          <p:cNvGrpSpPr/>
          <p:nvPr/>
        </p:nvGrpSpPr>
        <p:grpSpPr>
          <a:xfrm rot="0">
            <a:off x="4785129" y="6160292"/>
            <a:ext cx="4144557" cy="989754"/>
            <a:chOff x="0" y="0"/>
            <a:chExt cx="5526076" cy="1319673"/>
          </a:xfrm>
        </p:grpSpPr>
        <p:grpSp>
          <p:nvGrpSpPr>
            <p:cNvPr name="Group 40" id="40"/>
            <p:cNvGrpSpPr/>
            <p:nvPr/>
          </p:nvGrpSpPr>
          <p:grpSpPr>
            <a:xfrm rot="0">
              <a:off x="0" y="0"/>
              <a:ext cx="5526076" cy="1319673"/>
              <a:chOff x="0" y="0"/>
              <a:chExt cx="1017514" cy="242991"/>
            </a:xfrm>
          </p:grpSpPr>
          <p:sp>
            <p:nvSpPr>
              <p:cNvPr name="Freeform 41" id="41"/>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42" id="42"/>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sp>
          <p:nvSpPr>
            <p:cNvPr name="TextBox 43" id="43"/>
            <p:cNvSpPr txBox="true"/>
            <p:nvPr/>
          </p:nvSpPr>
          <p:spPr>
            <a:xfrm rot="0">
              <a:off x="1833415" y="111730"/>
              <a:ext cx="2897582" cy="1039063"/>
            </a:xfrm>
            <a:prstGeom prst="rect">
              <a:avLst/>
            </a:prstGeom>
          </p:spPr>
          <p:txBody>
            <a:bodyPr anchor="t" rtlCol="false" tIns="0" lIns="0" bIns="0" rIns="0">
              <a:spAutoFit/>
            </a:bodyPr>
            <a:lstStyle/>
            <a:p>
              <a:pPr algn="l">
                <a:lnSpc>
                  <a:spcPts val="2862"/>
                </a:lnSpc>
              </a:pPr>
              <a:r>
                <a:rPr lang="en-US" sz="2467">
                  <a:solidFill>
                    <a:srgbClr val="FFFFFF"/>
                  </a:solidFill>
                  <a:latin typeface="Agrandir"/>
                  <a:ea typeface="Agrandir"/>
                  <a:cs typeface="Agrandir"/>
                  <a:sym typeface="Agrandir"/>
                </a:rPr>
                <a:t>Approximating Solutions</a:t>
              </a:r>
            </a:p>
          </p:txBody>
        </p:sp>
        <p:grpSp>
          <p:nvGrpSpPr>
            <p:cNvPr name="Group 44" id="44"/>
            <p:cNvGrpSpPr/>
            <p:nvPr/>
          </p:nvGrpSpPr>
          <p:grpSpPr>
            <a:xfrm rot="0">
              <a:off x="0" y="0"/>
              <a:ext cx="1442529" cy="1319673"/>
              <a:chOff x="0" y="0"/>
              <a:chExt cx="265612" cy="242991"/>
            </a:xfrm>
          </p:grpSpPr>
          <p:sp>
            <p:nvSpPr>
              <p:cNvPr name="Freeform 45" id="45"/>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46" id="46"/>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47" id="47"/>
            <p:cNvSpPr txBox="true"/>
            <p:nvPr/>
          </p:nvSpPr>
          <p:spPr>
            <a:xfrm rot="0">
              <a:off x="379398" y="271636"/>
              <a:ext cx="1063132" cy="66210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03.</a:t>
              </a:r>
            </a:p>
          </p:txBody>
        </p:sp>
      </p:grpSp>
      <p:sp>
        <p:nvSpPr>
          <p:cNvPr name="TextBox 48" id="48"/>
          <p:cNvSpPr txBox="true"/>
          <p:nvPr/>
        </p:nvSpPr>
        <p:spPr>
          <a:xfrm rot="0">
            <a:off x="9663402" y="8239971"/>
            <a:ext cx="8298419" cy="900837"/>
          </a:xfrm>
          <a:prstGeom prst="rect">
            <a:avLst/>
          </a:prstGeom>
        </p:spPr>
        <p:txBody>
          <a:bodyPr anchor="t" rtlCol="false" tIns="0" lIns="0" bIns="0" rIns="0">
            <a:spAutoFit/>
          </a:bodyPr>
          <a:lstStyle/>
          <a:p>
            <a:pPr algn="ctr">
              <a:lnSpc>
                <a:spcPts val="2230"/>
              </a:lnSpc>
              <a:spcBef>
                <a:spcPct val="0"/>
              </a:spcBef>
            </a:pPr>
            <a:r>
              <a:rPr lang="en-US" b="true" sz="2145">
                <a:solidFill>
                  <a:srgbClr val="000000"/>
                </a:solidFill>
                <a:latin typeface="Agrandir Bold"/>
                <a:ea typeface="Agrandir Bold"/>
                <a:cs typeface="Agrandir Bold"/>
                <a:sym typeface="Agrandir Bold"/>
              </a:rPr>
              <a:t>Our primary goal is to compare the accuracy and efficiency of different numerical methods, highlighting their strengths and weaknesses in various scenarios.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1388124" y="2194396"/>
            <a:ext cx="12338316" cy="1763105"/>
          </a:xfrm>
          <a:prstGeom prst="rect">
            <a:avLst/>
          </a:prstGeom>
        </p:spPr>
        <p:txBody>
          <a:bodyPr anchor="t" rtlCol="false" tIns="0" lIns="0" bIns="0" rIns="0">
            <a:spAutoFit/>
          </a:bodyPr>
          <a:lstStyle/>
          <a:p>
            <a:pPr algn="l">
              <a:lnSpc>
                <a:spcPts val="6875"/>
              </a:lnSpc>
            </a:pPr>
            <a:r>
              <a:rPr lang="en-US" sz="6610">
                <a:solidFill>
                  <a:srgbClr val="050056"/>
                </a:solidFill>
                <a:latin typeface="Anton"/>
                <a:ea typeface="Anton"/>
                <a:cs typeface="Anton"/>
                <a:sym typeface="Anton"/>
              </a:rPr>
              <a:t>WHY NUMERICAL METHODS MATTER</a:t>
            </a:r>
          </a:p>
          <a:p>
            <a:pPr algn="l">
              <a:lnSpc>
                <a:spcPts val="6875"/>
              </a:lnSpc>
            </a:pPr>
          </a:p>
        </p:txBody>
      </p:sp>
      <p:sp>
        <p:nvSpPr>
          <p:cNvPr name="TextBox 7" id="7"/>
          <p:cNvSpPr txBox="true"/>
          <p:nvPr/>
        </p:nvSpPr>
        <p:spPr>
          <a:xfrm rot="0">
            <a:off x="1388124" y="3114696"/>
            <a:ext cx="16281237" cy="3332619"/>
          </a:xfrm>
          <a:prstGeom prst="rect">
            <a:avLst/>
          </a:prstGeom>
        </p:spPr>
        <p:txBody>
          <a:bodyPr anchor="t" rtlCol="false" tIns="0" lIns="0" bIns="0" rIns="0">
            <a:spAutoFit/>
          </a:bodyPr>
          <a:lstStyle/>
          <a:p>
            <a:pPr algn="l">
              <a:lnSpc>
                <a:spcPts val="5110"/>
              </a:lnSpc>
            </a:pPr>
            <a:r>
              <a:rPr lang="en-US" sz="3813">
                <a:solidFill>
                  <a:srgbClr val="000000"/>
                </a:solidFill>
                <a:latin typeface="Agrandir"/>
                <a:ea typeface="Agrandir"/>
                <a:cs typeface="Agrandir"/>
                <a:sym typeface="Agrandir"/>
              </a:rPr>
              <a:t>In the intricate world of engineering and computer science, many real-world systems defy elegant analytical solutions. This is precisely where numerical methods become indispensable, offering powerful tools to approximate solutions where exact formulas fall short.</a:t>
            </a:r>
          </a:p>
          <a:p>
            <a:pPr algn="l">
              <a:lnSpc>
                <a:spcPts val="5110"/>
              </a:lnSpc>
            </a:pPr>
          </a:p>
        </p:txBody>
      </p:sp>
      <p:sp>
        <p:nvSpPr>
          <p:cNvPr name="TextBox 8" id="8"/>
          <p:cNvSpPr txBox="true"/>
          <p:nvPr/>
        </p:nvSpPr>
        <p:spPr>
          <a:xfrm rot="0">
            <a:off x="1388124" y="6156155"/>
            <a:ext cx="7936706" cy="544220"/>
          </a:xfrm>
          <a:prstGeom prst="rect">
            <a:avLst/>
          </a:prstGeom>
        </p:spPr>
        <p:txBody>
          <a:bodyPr anchor="t" rtlCol="false" tIns="0" lIns="0" bIns="0" rIns="0">
            <a:spAutoFit/>
          </a:bodyPr>
          <a:lstStyle/>
          <a:p>
            <a:pPr algn="ctr">
              <a:lnSpc>
                <a:spcPts val="3478"/>
              </a:lnSpc>
              <a:spcBef>
                <a:spcPct val="0"/>
              </a:spcBef>
            </a:pPr>
            <a:r>
              <a:rPr lang="en-US" b="true" sz="3344">
                <a:solidFill>
                  <a:srgbClr val="050056"/>
                </a:solidFill>
                <a:latin typeface="Agrandir Bold"/>
                <a:ea typeface="Agrandir Bold"/>
                <a:cs typeface="Agrandir Bold"/>
                <a:sym typeface="Agrandir Bold"/>
              </a:rPr>
              <a:t>APPLICATIONS ACROSS DISCIPLINES</a:t>
            </a:r>
          </a:p>
        </p:txBody>
      </p:sp>
      <p:sp>
        <p:nvSpPr>
          <p:cNvPr name="TextBox 9" id="9"/>
          <p:cNvSpPr txBox="true"/>
          <p:nvPr/>
        </p:nvSpPr>
        <p:spPr>
          <a:xfrm rot="0">
            <a:off x="1388124" y="7221755"/>
            <a:ext cx="14130086" cy="1852193"/>
          </a:xfrm>
          <a:prstGeom prst="rect">
            <a:avLst/>
          </a:prstGeom>
        </p:spPr>
        <p:txBody>
          <a:bodyPr anchor="t" rtlCol="false" tIns="0" lIns="0" bIns="0" rIns="0">
            <a:spAutoFit/>
          </a:bodyPr>
          <a:lstStyle/>
          <a:p>
            <a:pPr algn="l">
              <a:lnSpc>
                <a:spcPts val="3062"/>
              </a:lnSpc>
              <a:spcBef>
                <a:spcPct val="0"/>
              </a:spcBef>
            </a:pPr>
            <a:r>
              <a:rPr lang="en-US" b="true" sz="2944">
                <a:solidFill>
                  <a:srgbClr val="050056"/>
                </a:solidFill>
                <a:latin typeface="Agrandir Bold"/>
                <a:ea typeface="Agrandir Bold"/>
                <a:cs typeface="Agrandir Bold"/>
                <a:sym typeface="Agrandir Bold"/>
              </a:rPr>
              <a:t>POPULATION GROWTH MODELS</a:t>
            </a:r>
          </a:p>
          <a:p>
            <a:pPr algn="l">
              <a:lnSpc>
                <a:spcPts val="2438"/>
              </a:lnSpc>
              <a:spcBef>
                <a:spcPct val="0"/>
              </a:spcBef>
            </a:pPr>
          </a:p>
          <a:p>
            <a:pPr algn="l">
              <a:lnSpc>
                <a:spcPts val="4206"/>
              </a:lnSpc>
              <a:spcBef>
                <a:spcPct val="0"/>
              </a:spcBef>
            </a:pPr>
            <a:r>
              <a:rPr lang="en-US" sz="4044">
                <a:solidFill>
                  <a:srgbClr val="000000"/>
                </a:solidFill>
                <a:latin typeface="Agrandir"/>
                <a:ea typeface="Agrandir"/>
                <a:cs typeface="Agrandir"/>
                <a:sym typeface="Agrandir"/>
              </a:rPr>
              <a:t>Predicting future demographics and resource allocation relies heavily on numerical approximations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514350" y="2890241"/>
            <a:ext cx="17773650" cy="2391689"/>
          </a:xfrm>
          <a:prstGeom prst="rect">
            <a:avLst/>
          </a:prstGeom>
        </p:spPr>
        <p:txBody>
          <a:bodyPr anchor="t" rtlCol="false" tIns="0" lIns="0" bIns="0" rIns="0">
            <a:spAutoFit/>
          </a:bodyPr>
          <a:lstStyle/>
          <a:p>
            <a:pPr algn="l">
              <a:lnSpc>
                <a:spcPts val="3686"/>
              </a:lnSpc>
              <a:spcBef>
                <a:spcPct val="0"/>
              </a:spcBef>
            </a:pPr>
            <a:r>
              <a:rPr lang="en-US" b="true" sz="3544">
                <a:solidFill>
                  <a:srgbClr val="050056"/>
                </a:solidFill>
                <a:latin typeface="Agrandir Bold"/>
                <a:ea typeface="Agrandir Bold"/>
                <a:cs typeface="Agrandir Bold"/>
                <a:sym typeface="Agrandir Bold"/>
              </a:rPr>
              <a:t>HEAT TRANSFER</a:t>
            </a:r>
          </a:p>
          <a:p>
            <a:pPr algn="l">
              <a:lnSpc>
                <a:spcPts val="3686"/>
              </a:lnSpc>
              <a:spcBef>
                <a:spcPct val="0"/>
              </a:spcBef>
            </a:pPr>
          </a:p>
          <a:p>
            <a:pPr algn="l">
              <a:lnSpc>
                <a:spcPts val="2126"/>
              </a:lnSpc>
              <a:spcBef>
                <a:spcPct val="0"/>
              </a:spcBef>
            </a:pPr>
          </a:p>
          <a:p>
            <a:pPr algn="l">
              <a:lnSpc>
                <a:spcPts val="4206"/>
              </a:lnSpc>
              <a:spcBef>
                <a:spcPct val="0"/>
              </a:spcBef>
            </a:pPr>
            <a:r>
              <a:rPr lang="en-US" sz="4044">
                <a:solidFill>
                  <a:srgbClr val="000000"/>
                </a:solidFill>
                <a:latin typeface="Agrandir"/>
                <a:ea typeface="Agrandir"/>
                <a:cs typeface="Agrandir"/>
                <a:sym typeface="Agrandir"/>
              </a:rPr>
              <a:t>Modelling temperature distribution in materials for design and safety applications benefits from numerical simulations.</a:t>
            </a:r>
          </a:p>
        </p:txBody>
      </p:sp>
      <p:sp>
        <p:nvSpPr>
          <p:cNvPr name="TextBox 7" id="7"/>
          <p:cNvSpPr txBox="true"/>
          <p:nvPr/>
        </p:nvSpPr>
        <p:spPr>
          <a:xfrm rot="0">
            <a:off x="514350" y="6522769"/>
            <a:ext cx="17773650" cy="2191664"/>
          </a:xfrm>
          <a:prstGeom prst="rect">
            <a:avLst/>
          </a:prstGeom>
        </p:spPr>
        <p:txBody>
          <a:bodyPr anchor="t" rtlCol="false" tIns="0" lIns="0" bIns="0" rIns="0">
            <a:spAutoFit/>
          </a:bodyPr>
          <a:lstStyle/>
          <a:p>
            <a:pPr algn="l">
              <a:lnSpc>
                <a:spcPts val="3686"/>
              </a:lnSpc>
              <a:spcBef>
                <a:spcPct val="0"/>
              </a:spcBef>
            </a:pPr>
            <a:r>
              <a:rPr lang="en-US" b="true" sz="3544">
                <a:solidFill>
                  <a:srgbClr val="050056"/>
                </a:solidFill>
                <a:latin typeface="Agrandir Bold"/>
                <a:ea typeface="Agrandir Bold"/>
                <a:cs typeface="Agrandir Bold"/>
                <a:sym typeface="Agrandir Bold"/>
              </a:rPr>
              <a:t>ENGINEERING SIMULATIONS</a:t>
            </a:r>
          </a:p>
          <a:p>
            <a:pPr algn="l">
              <a:lnSpc>
                <a:spcPts val="2126"/>
              </a:lnSpc>
              <a:spcBef>
                <a:spcPct val="0"/>
              </a:spcBef>
            </a:pPr>
          </a:p>
          <a:p>
            <a:pPr algn="l">
              <a:lnSpc>
                <a:spcPts val="2126"/>
              </a:lnSpc>
              <a:spcBef>
                <a:spcPct val="0"/>
              </a:spcBef>
            </a:pPr>
          </a:p>
          <a:p>
            <a:pPr algn="l">
              <a:lnSpc>
                <a:spcPts val="4206"/>
              </a:lnSpc>
              <a:spcBef>
                <a:spcPct val="0"/>
              </a:spcBef>
            </a:pPr>
            <a:r>
              <a:rPr lang="en-US" sz="4044">
                <a:solidFill>
                  <a:srgbClr val="000000"/>
                </a:solidFill>
                <a:latin typeface="Agrandir"/>
                <a:ea typeface="Agrandir"/>
                <a:cs typeface="Agrandir"/>
                <a:sym typeface="Agrandir"/>
              </a:rPr>
              <a:t>From structural analysis to fluid dynamics, numerical methods are the backbone of modern engineering design.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1388124" y="1969296"/>
            <a:ext cx="12338316" cy="1763105"/>
          </a:xfrm>
          <a:prstGeom prst="rect">
            <a:avLst/>
          </a:prstGeom>
        </p:spPr>
        <p:txBody>
          <a:bodyPr anchor="t" rtlCol="false" tIns="0" lIns="0" bIns="0" rIns="0">
            <a:spAutoFit/>
          </a:bodyPr>
          <a:lstStyle/>
          <a:p>
            <a:pPr algn="l">
              <a:lnSpc>
                <a:spcPts val="6875"/>
              </a:lnSpc>
            </a:pPr>
            <a:r>
              <a:rPr lang="en-US" sz="6610">
                <a:solidFill>
                  <a:srgbClr val="050056"/>
                </a:solidFill>
                <a:latin typeface="Anton"/>
                <a:ea typeface="Anton"/>
                <a:cs typeface="Anton"/>
                <a:sym typeface="Anton"/>
              </a:rPr>
              <a:t>DEFINING THE INITIAL VALUE PROBLEM</a:t>
            </a:r>
          </a:p>
          <a:p>
            <a:pPr algn="l">
              <a:lnSpc>
                <a:spcPts val="6875"/>
              </a:lnSpc>
            </a:pPr>
          </a:p>
        </p:txBody>
      </p:sp>
      <p:sp>
        <p:nvSpPr>
          <p:cNvPr name="TextBox 7" id="7"/>
          <p:cNvSpPr txBox="true"/>
          <p:nvPr/>
        </p:nvSpPr>
        <p:spPr>
          <a:xfrm rot="0">
            <a:off x="1388124" y="3314120"/>
            <a:ext cx="16281237" cy="6571119"/>
          </a:xfrm>
          <a:prstGeom prst="rect">
            <a:avLst/>
          </a:prstGeom>
        </p:spPr>
        <p:txBody>
          <a:bodyPr anchor="t" rtlCol="false" tIns="0" lIns="0" bIns="0" rIns="0">
            <a:spAutoFit/>
          </a:bodyPr>
          <a:lstStyle/>
          <a:p>
            <a:pPr algn="l">
              <a:lnSpc>
                <a:spcPts val="5110"/>
              </a:lnSpc>
            </a:pPr>
            <a:r>
              <a:rPr lang="en-US" sz="3813" b="true">
                <a:solidFill>
                  <a:srgbClr val="050056"/>
                </a:solidFill>
                <a:latin typeface="Agrandir Bold"/>
                <a:ea typeface="Agrandir Bold"/>
                <a:cs typeface="Agrandir Bold"/>
                <a:sym typeface="Agrandir Bold"/>
              </a:rPr>
              <a:t>Methods Under Comparison</a:t>
            </a:r>
          </a:p>
          <a:p>
            <a:pPr algn="l">
              <a:lnSpc>
                <a:spcPts val="5110"/>
              </a:lnSpc>
            </a:pPr>
            <a:r>
              <a:rPr lang="en-US" sz="3813">
                <a:solidFill>
                  <a:srgbClr val="000000"/>
                </a:solidFill>
                <a:latin typeface="Agrandir"/>
                <a:ea typeface="Agrandir"/>
                <a:cs typeface="Agrandir"/>
                <a:sym typeface="Agrandir"/>
              </a:rPr>
              <a:t>To achieve this, we will rigorously evaluate three distinct numerical techniques:</a:t>
            </a:r>
          </a:p>
          <a:p>
            <a:pPr algn="l" marL="823356" indent="-411678" lvl="1">
              <a:lnSpc>
                <a:spcPts val="5110"/>
              </a:lnSpc>
              <a:buFont typeface="Arial"/>
              <a:buChar char="•"/>
            </a:pPr>
            <a:r>
              <a:rPr lang="en-US" sz="3813">
                <a:solidFill>
                  <a:srgbClr val="000000"/>
                </a:solidFill>
                <a:latin typeface="Agrandir"/>
                <a:ea typeface="Agrandir"/>
                <a:cs typeface="Agrandir"/>
                <a:sym typeface="Agrandir"/>
              </a:rPr>
              <a:t>Euler’s Method: The foundational explicit method, known for its simplicity.</a:t>
            </a:r>
          </a:p>
          <a:p>
            <a:pPr algn="l" marL="823356" indent="-411678" lvl="1">
              <a:lnSpc>
                <a:spcPts val="5110"/>
              </a:lnSpc>
              <a:buFont typeface="Arial"/>
              <a:buChar char="•"/>
            </a:pPr>
            <a:r>
              <a:rPr lang="en-US" sz="3813">
                <a:solidFill>
                  <a:srgbClr val="000000"/>
                </a:solidFill>
                <a:latin typeface="Agrandir"/>
                <a:ea typeface="Agrandir"/>
                <a:cs typeface="Agrandir"/>
                <a:sym typeface="Agrandir"/>
              </a:rPr>
              <a:t>Heun’s Method: A more refined predictor-corrector approach, offering improved accuracy.</a:t>
            </a:r>
          </a:p>
          <a:p>
            <a:pPr algn="l" marL="823356" indent="-411678" lvl="1">
              <a:lnSpc>
                <a:spcPts val="5110"/>
              </a:lnSpc>
              <a:buFont typeface="Arial"/>
              <a:buChar char="•"/>
            </a:pPr>
            <a:r>
              <a:rPr lang="en-US" sz="3813">
                <a:solidFill>
                  <a:srgbClr val="000000"/>
                </a:solidFill>
                <a:latin typeface="Agrandir"/>
                <a:ea typeface="Agrandir"/>
                <a:cs typeface="Agrandir"/>
                <a:sym typeface="Agrandir"/>
              </a:rPr>
              <a:t>Midpoint Method: Another second-order method that estimates the slope at the interval's midpoint.</a:t>
            </a:r>
          </a:p>
          <a:p>
            <a:pPr algn="l">
              <a:lnSpc>
                <a:spcPts val="511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472136" y="2410332"/>
            <a:ext cx="4433888" cy="544220"/>
          </a:xfrm>
          <a:prstGeom prst="rect">
            <a:avLst/>
          </a:prstGeom>
        </p:spPr>
        <p:txBody>
          <a:bodyPr anchor="t" rtlCol="false" tIns="0" lIns="0" bIns="0" rIns="0">
            <a:spAutoFit/>
          </a:bodyPr>
          <a:lstStyle/>
          <a:p>
            <a:pPr algn="ctr">
              <a:lnSpc>
                <a:spcPts val="3478"/>
              </a:lnSpc>
              <a:spcBef>
                <a:spcPct val="0"/>
              </a:spcBef>
            </a:pPr>
            <a:r>
              <a:rPr lang="en-US" b="true" sz="3344">
                <a:solidFill>
                  <a:srgbClr val="050056"/>
                </a:solidFill>
                <a:latin typeface="Agrandir Bold"/>
                <a:ea typeface="Agrandir Bold"/>
                <a:cs typeface="Agrandir Bold"/>
                <a:sym typeface="Agrandir Bold"/>
              </a:rPr>
              <a:t>THE CORE PROBLEM</a:t>
            </a:r>
          </a:p>
        </p:txBody>
      </p:sp>
      <p:sp>
        <p:nvSpPr>
          <p:cNvPr name="TextBox 7" id="7"/>
          <p:cNvSpPr txBox="true"/>
          <p:nvPr/>
        </p:nvSpPr>
        <p:spPr>
          <a:xfrm rot="0">
            <a:off x="472136" y="3123962"/>
            <a:ext cx="16230600" cy="942238"/>
          </a:xfrm>
          <a:prstGeom prst="rect">
            <a:avLst/>
          </a:prstGeom>
        </p:spPr>
        <p:txBody>
          <a:bodyPr anchor="t" rtlCol="false" tIns="0" lIns="0" bIns="0" rIns="0">
            <a:spAutoFit/>
          </a:bodyPr>
          <a:lstStyle/>
          <a:p>
            <a:pPr algn="l">
              <a:lnSpc>
                <a:spcPts val="3374"/>
              </a:lnSpc>
              <a:spcBef>
                <a:spcPct val="0"/>
              </a:spcBef>
            </a:pPr>
            <a:r>
              <a:rPr lang="en-US" sz="3244">
                <a:solidFill>
                  <a:srgbClr val="000000"/>
                </a:solidFill>
                <a:latin typeface="Agrandir"/>
                <a:ea typeface="Agrandir"/>
                <a:cs typeface="Agrandir"/>
                <a:sym typeface="Agrandir"/>
              </a:rPr>
              <a:t>We consider the Initial Value Problem (IVP), defined by a first-order ordinary differential equation and an initial condition:</a:t>
            </a:r>
          </a:p>
        </p:txBody>
      </p:sp>
      <p:sp>
        <p:nvSpPr>
          <p:cNvPr name="TextBox 8" id="8"/>
          <p:cNvSpPr txBox="true"/>
          <p:nvPr/>
        </p:nvSpPr>
        <p:spPr>
          <a:xfrm rot="0">
            <a:off x="2689080" y="5191125"/>
            <a:ext cx="10005510" cy="835431"/>
          </a:xfrm>
          <a:prstGeom prst="rect">
            <a:avLst/>
          </a:prstGeom>
        </p:spPr>
        <p:txBody>
          <a:bodyPr anchor="t" rtlCol="false" tIns="0" lIns="0" bIns="0" rIns="0">
            <a:spAutoFit/>
          </a:bodyPr>
          <a:lstStyle/>
          <a:p>
            <a:pPr algn="ctr">
              <a:lnSpc>
                <a:spcPts val="3270"/>
              </a:lnSpc>
              <a:spcBef>
                <a:spcPct val="0"/>
              </a:spcBef>
            </a:pPr>
            <a:r>
              <a:rPr lang="en-US" b="true" sz="3144">
                <a:solidFill>
                  <a:srgbClr val="000000"/>
                </a:solidFill>
                <a:latin typeface="Canva Sans Bold"/>
                <a:ea typeface="Canva Sans Bold"/>
                <a:cs typeface="Canva Sans Bold"/>
                <a:sym typeface="Canva Sans Bold"/>
              </a:rPr>
              <a:t>dy/dt=f(t,y),y(t0​)=y0​</a:t>
            </a:r>
          </a:p>
          <a:p>
            <a:pPr algn="ctr">
              <a:lnSpc>
                <a:spcPts val="3270"/>
              </a:lnSpc>
              <a:spcBef>
                <a:spcPct val="0"/>
              </a:spcBef>
            </a:pPr>
            <a:r>
              <a:rPr lang="en-US" b="true" sz="3144">
                <a:solidFill>
                  <a:srgbClr val="000000"/>
                </a:solidFill>
                <a:latin typeface="Arimo Bold"/>
                <a:ea typeface="Arimo Bold"/>
                <a:cs typeface="Arimo Bold"/>
                <a:sym typeface="Arimo Bold"/>
              </a:rPr>
              <a:t> </a:t>
            </a:r>
          </a:p>
        </p:txBody>
      </p:sp>
      <p:sp>
        <p:nvSpPr>
          <p:cNvPr name="TextBox 9" id="9"/>
          <p:cNvSpPr txBox="true"/>
          <p:nvPr/>
        </p:nvSpPr>
        <p:spPr>
          <a:xfrm rot="0">
            <a:off x="472136" y="6767178"/>
            <a:ext cx="17815864" cy="942238"/>
          </a:xfrm>
          <a:prstGeom prst="rect">
            <a:avLst/>
          </a:prstGeom>
        </p:spPr>
        <p:txBody>
          <a:bodyPr anchor="t" rtlCol="false" tIns="0" lIns="0" bIns="0" rIns="0">
            <a:spAutoFit/>
          </a:bodyPr>
          <a:lstStyle/>
          <a:p>
            <a:pPr algn="l">
              <a:lnSpc>
                <a:spcPts val="3374"/>
              </a:lnSpc>
              <a:spcBef>
                <a:spcPct val="0"/>
              </a:spcBef>
            </a:pPr>
            <a:r>
              <a:rPr lang="en-US" sz="3244">
                <a:solidFill>
                  <a:srgbClr val="000000"/>
                </a:solidFill>
                <a:latin typeface="Agrandir"/>
                <a:ea typeface="Agrandir"/>
                <a:cs typeface="Agrandir"/>
                <a:sym typeface="Agrandir"/>
              </a:rPr>
              <a:t>Our objective is to accurately approximate the value of y over a specified time interval, given its initial state.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pSp>
        <p:nvGrpSpPr>
          <p:cNvPr name="Group 6" id="6"/>
          <p:cNvGrpSpPr/>
          <p:nvPr/>
        </p:nvGrpSpPr>
        <p:grpSpPr>
          <a:xfrm rot="0">
            <a:off x="2630318" y="6692398"/>
            <a:ext cx="4144557" cy="989754"/>
            <a:chOff x="0" y="0"/>
            <a:chExt cx="1017514" cy="242991"/>
          </a:xfrm>
        </p:grpSpPr>
        <p:sp>
          <p:nvSpPr>
            <p:cNvPr name="Freeform 7" id="7"/>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8" id="8"/>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grpSp>
        <p:nvGrpSpPr>
          <p:cNvPr name="Group 9" id="9"/>
          <p:cNvGrpSpPr/>
          <p:nvPr/>
        </p:nvGrpSpPr>
        <p:grpSpPr>
          <a:xfrm rot="0">
            <a:off x="2630318" y="6692398"/>
            <a:ext cx="1081897" cy="989754"/>
            <a:chOff x="0" y="0"/>
            <a:chExt cx="265612" cy="242991"/>
          </a:xfrm>
        </p:grpSpPr>
        <p:sp>
          <p:nvSpPr>
            <p:cNvPr name="Freeform 10" id="10"/>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1" id="11"/>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grpSp>
        <p:nvGrpSpPr>
          <p:cNvPr name="Group 12" id="12"/>
          <p:cNvGrpSpPr/>
          <p:nvPr/>
        </p:nvGrpSpPr>
        <p:grpSpPr>
          <a:xfrm rot="0">
            <a:off x="10079265" y="6563925"/>
            <a:ext cx="4144557" cy="989754"/>
            <a:chOff x="0" y="0"/>
            <a:chExt cx="1017514" cy="242991"/>
          </a:xfrm>
        </p:grpSpPr>
        <p:sp>
          <p:nvSpPr>
            <p:cNvPr name="Freeform 13" id="13"/>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14" id="14"/>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grpSp>
        <p:nvGrpSpPr>
          <p:cNvPr name="Group 15" id="15"/>
          <p:cNvGrpSpPr/>
          <p:nvPr/>
        </p:nvGrpSpPr>
        <p:grpSpPr>
          <a:xfrm rot="0">
            <a:off x="10079265" y="6563925"/>
            <a:ext cx="1081897" cy="989754"/>
            <a:chOff x="0" y="0"/>
            <a:chExt cx="265612" cy="242991"/>
          </a:xfrm>
        </p:grpSpPr>
        <p:sp>
          <p:nvSpPr>
            <p:cNvPr name="Freeform 16" id="16"/>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7" id="17"/>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Freeform 18" id="18"/>
          <p:cNvSpPr/>
          <p:nvPr/>
        </p:nvSpPr>
        <p:spPr>
          <a:xfrm flipH="false" flipV="false" rot="0">
            <a:off x="-1052485" y="912245"/>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2914866" y="2022030"/>
            <a:ext cx="12963931" cy="1756438"/>
          </a:xfrm>
          <a:prstGeom prst="rect">
            <a:avLst/>
          </a:prstGeom>
        </p:spPr>
        <p:txBody>
          <a:bodyPr anchor="t" rtlCol="false" tIns="0" lIns="0" bIns="0" rIns="0">
            <a:spAutoFit/>
          </a:bodyPr>
          <a:lstStyle/>
          <a:p>
            <a:pPr algn="ctr">
              <a:lnSpc>
                <a:spcPts val="6875"/>
              </a:lnSpc>
            </a:pPr>
            <a:r>
              <a:rPr lang="en-US" sz="6610">
                <a:solidFill>
                  <a:srgbClr val="050056"/>
                </a:solidFill>
                <a:latin typeface="Anton"/>
                <a:ea typeface="Anton"/>
                <a:cs typeface="Anton"/>
                <a:sym typeface="Anton"/>
              </a:rPr>
              <a:t>EULER’S METHOD: THE FUNDAMENTALS</a:t>
            </a:r>
          </a:p>
          <a:p>
            <a:pPr algn="ctr">
              <a:lnSpc>
                <a:spcPts val="6875"/>
              </a:lnSpc>
            </a:pPr>
          </a:p>
        </p:txBody>
      </p:sp>
      <p:sp>
        <p:nvSpPr>
          <p:cNvPr name="TextBox 20" id="20"/>
          <p:cNvSpPr txBox="true"/>
          <p:nvPr/>
        </p:nvSpPr>
        <p:spPr>
          <a:xfrm rot="0">
            <a:off x="2789800" y="4053511"/>
            <a:ext cx="6824185" cy="2928339"/>
          </a:xfrm>
          <a:prstGeom prst="rect">
            <a:avLst/>
          </a:prstGeom>
        </p:spPr>
        <p:txBody>
          <a:bodyPr anchor="t" rtlCol="false" tIns="0" lIns="0" bIns="0" rIns="0">
            <a:spAutoFit/>
          </a:bodyPr>
          <a:lstStyle/>
          <a:p>
            <a:pPr algn="l">
              <a:lnSpc>
                <a:spcPts val="3798"/>
              </a:lnSpc>
            </a:pPr>
            <a:r>
              <a:rPr lang="en-US" sz="2834">
                <a:solidFill>
                  <a:srgbClr val="050056"/>
                </a:solidFill>
                <a:latin typeface="Agrandir"/>
                <a:ea typeface="Agrandir"/>
                <a:cs typeface="Agrandir"/>
                <a:sym typeface="Agrandir"/>
              </a:rPr>
              <a:t>Euler's Method is the most basic explicit numerical integration technique for solving ordinary differential equations. It approximates the next point on a curve using the tangent at the current point.</a:t>
            </a:r>
          </a:p>
          <a:p>
            <a:pPr algn="l">
              <a:lnSpc>
                <a:spcPts val="3798"/>
              </a:lnSpc>
            </a:pPr>
          </a:p>
        </p:txBody>
      </p:sp>
      <p:grpSp>
        <p:nvGrpSpPr>
          <p:cNvPr name="Group 21" id="21"/>
          <p:cNvGrpSpPr/>
          <p:nvPr/>
        </p:nvGrpSpPr>
        <p:grpSpPr>
          <a:xfrm rot="0">
            <a:off x="2630318" y="2924640"/>
            <a:ext cx="3902457" cy="1301503"/>
            <a:chOff x="0" y="0"/>
            <a:chExt cx="5203276" cy="1735337"/>
          </a:xfrm>
        </p:grpSpPr>
        <p:grpSp>
          <p:nvGrpSpPr>
            <p:cNvPr name="Group 22" id="22"/>
            <p:cNvGrpSpPr/>
            <p:nvPr/>
          </p:nvGrpSpPr>
          <p:grpSpPr>
            <a:xfrm rot="0">
              <a:off x="0" y="0"/>
              <a:ext cx="5203276" cy="1580381"/>
              <a:chOff x="0" y="0"/>
              <a:chExt cx="965059" cy="293115"/>
            </a:xfrm>
          </p:grpSpPr>
          <p:sp>
            <p:nvSpPr>
              <p:cNvPr name="Freeform 23" id="23"/>
              <p:cNvSpPr/>
              <p:nvPr/>
            </p:nvSpPr>
            <p:spPr>
              <a:xfrm flipH="false" flipV="false" rot="0">
                <a:off x="0" y="0"/>
                <a:ext cx="965059" cy="293115"/>
              </a:xfrm>
              <a:custGeom>
                <a:avLst/>
                <a:gdLst/>
                <a:ahLst/>
                <a:cxnLst/>
                <a:rect r="r" b="b" t="t" l="l"/>
                <a:pathLst>
                  <a:path h="293115" w="965059">
                    <a:moveTo>
                      <a:pt x="146558" y="0"/>
                    </a:moveTo>
                    <a:lnTo>
                      <a:pt x="818501" y="0"/>
                    </a:lnTo>
                    <a:cubicBezTo>
                      <a:pt x="899442" y="0"/>
                      <a:pt x="965059" y="65616"/>
                      <a:pt x="965059" y="146558"/>
                    </a:cubicBezTo>
                    <a:lnTo>
                      <a:pt x="965059" y="146558"/>
                    </a:lnTo>
                    <a:cubicBezTo>
                      <a:pt x="965059" y="227499"/>
                      <a:pt x="899442" y="293115"/>
                      <a:pt x="818501" y="293115"/>
                    </a:cubicBezTo>
                    <a:lnTo>
                      <a:pt x="146558" y="293115"/>
                    </a:lnTo>
                    <a:cubicBezTo>
                      <a:pt x="65616" y="293115"/>
                      <a:pt x="0" y="227499"/>
                      <a:pt x="0" y="146558"/>
                    </a:cubicBezTo>
                    <a:lnTo>
                      <a:pt x="0" y="146558"/>
                    </a:lnTo>
                    <a:cubicBezTo>
                      <a:pt x="0" y="65616"/>
                      <a:pt x="65616" y="0"/>
                      <a:pt x="146558" y="0"/>
                    </a:cubicBezTo>
                    <a:close/>
                  </a:path>
                </a:pathLst>
              </a:custGeom>
              <a:gradFill rotWithShape="true">
                <a:gsLst>
                  <a:gs pos="0">
                    <a:srgbClr val="0C2756">
                      <a:alpha val="100000"/>
                    </a:srgbClr>
                  </a:gs>
                  <a:gs pos="100000">
                    <a:srgbClr val="1E527D">
                      <a:alpha val="100000"/>
                    </a:srgbClr>
                  </a:gs>
                </a:gsLst>
                <a:lin ang="0"/>
              </a:gradFill>
            </p:spPr>
          </p:sp>
          <p:sp>
            <p:nvSpPr>
              <p:cNvPr name="TextBox 24" id="24"/>
              <p:cNvSpPr txBox="true"/>
              <p:nvPr/>
            </p:nvSpPr>
            <p:spPr>
              <a:xfrm>
                <a:off x="0" y="-28575"/>
                <a:ext cx="965059" cy="321690"/>
              </a:xfrm>
              <a:prstGeom prst="rect">
                <a:avLst/>
              </a:prstGeom>
            </p:spPr>
            <p:txBody>
              <a:bodyPr anchor="ctr" rtlCol="false" tIns="50800" lIns="50800" bIns="50800" rIns="50800"/>
              <a:lstStyle/>
              <a:p>
                <a:pPr algn="ctr">
                  <a:lnSpc>
                    <a:spcPts val="2126"/>
                  </a:lnSpc>
                </a:pPr>
              </a:p>
            </p:txBody>
          </p:sp>
        </p:grpSp>
        <p:grpSp>
          <p:nvGrpSpPr>
            <p:cNvPr name="Group 25" id="25"/>
            <p:cNvGrpSpPr/>
            <p:nvPr/>
          </p:nvGrpSpPr>
          <p:grpSpPr>
            <a:xfrm rot="0">
              <a:off x="0" y="0"/>
              <a:ext cx="1432093" cy="1310126"/>
              <a:chOff x="0" y="0"/>
              <a:chExt cx="265612" cy="242991"/>
            </a:xfrm>
          </p:grpSpPr>
          <p:sp>
            <p:nvSpPr>
              <p:cNvPr name="Freeform 26" id="26"/>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27" id="27"/>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28" id="28"/>
            <p:cNvSpPr txBox="true"/>
            <p:nvPr/>
          </p:nvSpPr>
          <p:spPr>
            <a:xfrm rot="0">
              <a:off x="1676279" y="13850"/>
              <a:ext cx="2728700" cy="1721487"/>
            </a:xfrm>
            <a:prstGeom prst="rect">
              <a:avLst/>
            </a:prstGeom>
          </p:spPr>
          <p:txBody>
            <a:bodyPr anchor="t" rtlCol="false" tIns="0" lIns="0" bIns="0" rIns="0">
              <a:spAutoFit/>
            </a:bodyPr>
            <a:lstStyle/>
            <a:p>
              <a:pPr algn="l">
                <a:lnSpc>
                  <a:spcPts val="3373"/>
                </a:lnSpc>
              </a:pPr>
              <a:r>
                <a:rPr lang="en-US" sz="2517">
                  <a:solidFill>
                    <a:srgbClr val="FFFFFF"/>
                  </a:solidFill>
                  <a:latin typeface="Agrandir"/>
                  <a:ea typeface="Agrandir"/>
                  <a:cs typeface="Agrandir"/>
                  <a:sym typeface="Agrandir"/>
                </a:rPr>
                <a:t>First-Order Approach</a:t>
              </a:r>
            </a:p>
            <a:p>
              <a:pPr algn="l">
                <a:lnSpc>
                  <a:spcPts val="3373"/>
                </a:lnSpc>
              </a:pPr>
            </a:p>
          </p:txBody>
        </p:sp>
        <p:sp>
          <p:nvSpPr>
            <p:cNvPr name="TextBox 29" id="29"/>
            <p:cNvSpPr txBox="true"/>
            <p:nvPr/>
          </p:nvSpPr>
          <p:spPr>
            <a:xfrm rot="0">
              <a:off x="376653" y="268844"/>
              <a:ext cx="1055441" cy="658137"/>
            </a:xfrm>
            <a:prstGeom prst="rect">
              <a:avLst/>
            </a:prstGeom>
          </p:spPr>
          <p:txBody>
            <a:bodyPr anchor="t" rtlCol="false" tIns="0" lIns="0" bIns="0" rIns="0">
              <a:spAutoFit/>
            </a:bodyPr>
            <a:lstStyle/>
            <a:p>
              <a:pPr algn="l">
                <a:lnSpc>
                  <a:spcPts val="3664"/>
                </a:lnSpc>
              </a:pPr>
              <a:r>
                <a:rPr lang="en-US" sz="2734" b="true">
                  <a:solidFill>
                    <a:srgbClr val="FFFFFF"/>
                  </a:solidFill>
                  <a:latin typeface="Agrandir Bold"/>
                  <a:ea typeface="Agrandir Bold"/>
                  <a:cs typeface="Agrandir Bold"/>
                  <a:sym typeface="Agrandir Bold"/>
                </a:rPr>
                <a:t>01.</a:t>
              </a:r>
            </a:p>
          </p:txBody>
        </p:sp>
      </p:grpSp>
      <p:grpSp>
        <p:nvGrpSpPr>
          <p:cNvPr name="Group 30" id="30"/>
          <p:cNvGrpSpPr/>
          <p:nvPr/>
        </p:nvGrpSpPr>
        <p:grpSpPr>
          <a:xfrm rot="0">
            <a:off x="10079265" y="2924640"/>
            <a:ext cx="4144557" cy="989754"/>
            <a:chOff x="0" y="0"/>
            <a:chExt cx="5526076" cy="1319673"/>
          </a:xfrm>
        </p:grpSpPr>
        <p:grpSp>
          <p:nvGrpSpPr>
            <p:cNvPr name="Group 31" id="31"/>
            <p:cNvGrpSpPr/>
            <p:nvPr/>
          </p:nvGrpSpPr>
          <p:grpSpPr>
            <a:xfrm rot="0">
              <a:off x="0" y="0"/>
              <a:ext cx="5526076" cy="1319673"/>
              <a:chOff x="0" y="0"/>
              <a:chExt cx="1017514" cy="242991"/>
            </a:xfrm>
          </p:grpSpPr>
          <p:sp>
            <p:nvSpPr>
              <p:cNvPr name="Freeform 32" id="32"/>
              <p:cNvSpPr/>
              <p:nvPr/>
            </p:nvSpPr>
            <p:spPr>
              <a:xfrm flipH="false" flipV="false" rot="0">
                <a:off x="0" y="0"/>
                <a:ext cx="1017514" cy="242991"/>
              </a:xfrm>
              <a:custGeom>
                <a:avLst/>
                <a:gdLst/>
                <a:ahLst/>
                <a:cxnLst/>
                <a:rect r="r" b="b" t="t" l="l"/>
                <a:pathLst>
                  <a:path h="242991" w="1017514">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33" id="33"/>
              <p:cNvSpPr txBox="true"/>
              <p:nvPr/>
            </p:nvSpPr>
            <p:spPr>
              <a:xfrm>
                <a:off x="0" y="-28575"/>
                <a:ext cx="1017514" cy="271566"/>
              </a:xfrm>
              <a:prstGeom prst="rect">
                <a:avLst/>
              </a:prstGeom>
            </p:spPr>
            <p:txBody>
              <a:bodyPr anchor="ctr" rtlCol="false" tIns="50800" lIns="50800" bIns="50800" rIns="50800"/>
              <a:lstStyle/>
              <a:p>
                <a:pPr algn="ctr">
                  <a:lnSpc>
                    <a:spcPts val="2126"/>
                  </a:lnSpc>
                </a:pPr>
              </a:p>
            </p:txBody>
          </p:sp>
        </p:grpSp>
        <p:grpSp>
          <p:nvGrpSpPr>
            <p:cNvPr name="Group 34" id="34"/>
            <p:cNvGrpSpPr/>
            <p:nvPr/>
          </p:nvGrpSpPr>
          <p:grpSpPr>
            <a:xfrm rot="0">
              <a:off x="0" y="0"/>
              <a:ext cx="1442529" cy="1319673"/>
              <a:chOff x="0" y="0"/>
              <a:chExt cx="265612" cy="242991"/>
            </a:xfrm>
          </p:grpSpPr>
          <p:sp>
            <p:nvSpPr>
              <p:cNvPr name="Freeform 35" id="35"/>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36" id="36"/>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37" id="37"/>
            <p:cNvSpPr txBox="true"/>
            <p:nvPr/>
          </p:nvSpPr>
          <p:spPr>
            <a:xfrm rot="0">
              <a:off x="379398" y="271636"/>
              <a:ext cx="1063132" cy="66210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03.</a:t>
              </a:r>
            </a:p>
          </p:txBody>
        </p:sp>
        <p:sp>
          <p:nvSpPr>
            <p:cNvPr name="TextBox 38" id="38"/>
            <p:cNvSpPr txBox="true"/>
            <p:nvPr/>
          </p:nvSpPr>
          <p:spPr>
            <a:xfrm rot="0">
              <a:off x="1733086" y="288773"/>
              <a:ext cx="2897582" cy="1030900"/>
            </a:xfrm>
            <a:prstGeom prst="rect">
              <a:avLst/>
            </a:prstGeom>
          </p:spPr>
          <p:txBody>
            <a:bodyPr anchor="t" rtlCol="false" tIns="0" lIns="0" bIns="0" rIns="0">
              <a:spAutoFit/>
            </a:bodyPr>
            <a:lstStyle/>
            <a:p>
              <a:pPr algn="l">
                <a:lnSpc>
                  <a:spcPts val="2824"/>
                </a:lnSpc>
              </a:pPr>
              <a:r>
                <a:rPr lang="en-US" sz="2567">
                  <a:solidFill>
                    <a:srgbClr val="FFFFFF"/>
                  </a:solidFill>
                  <a:latin typeface="Agrandir"/>
                  <a:ea typeface="Agrandir"/>
                  <a:cs typeface="Agrandir"/>
                  <a:sym typeface="Agrandir"/>
                </a:rPr>
                <a:t>Advantages</a:t>
              </a:r>
            </a:p>
            <a:p>
              <a:pPr algn="l">
                <a:lnSpc>
                  <a:spcPts val="2824"/>
                </a:lnSpc>
              </a:pPr>
            </a:p>
          </p:txBody>
        </p:sp>
      </p:grpSp>
      <p:sp>
        <p:nvSpPr>
          <p:cNvPr name="Freeform 39" id="39"/>
          <p:cNvSpPr/>
          <p:nvPr/>
        </p:nvSpPr>
        <p:spPr>
          <a:xfrm flipH="false" flipV="false" rot="0">
            <a:off x="15178115" y="-1221579"/>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0" id="40"/>
          <p:cNvSpPr/>
          <p:nvPr/>
        </p:nvSpPr>
        <p:spPr>
          <a:xfrm flipH="false" flipV="false" rot="0">
            <a:off x="2630318" y="7630200"/>
            <a:ext cx="5787643" cy="1077773"/>
          </a:xfrm>
          <a:custGeom>
            <a:avLst/>
            <a:gdLst/>
            <a:ahLst/>
            <a:cxnLst/>
            <a:rect r="r" b="b" t="t" l="l"/>
            <a:pathLst>
              <a:path h="1077773" w="5787643">
                <a:moveTo>
                  <a:pt x="0" y="0"/>
                </a:moveTo>
                <a:lnTo>
                  <a:pt x="5787643" y="0"/>
                </a:lnTo>
                <a:lnTo>
                  <a:pt x="5787643" y="1077773"/>
                </a:lnTo>
                <a:lnTo>
                  <a:pt x="0" y="1077773"/>
                </a:lnTo>
                <a:lnTo>
                  <a:pt x="0" y="0"/>
                </a:lnTo>
                <a:close/>
              </a:path>
            </a:pathLst>
          </a:custGeom>
          <a:blipFill>
            <a:blip r:embed="rId5"/>
            <a:stretch>
              <a:fillRect l="0" t="0" r="0" b="0"/>
            </a:stretch>
          </a:blipFill>
        </p:spPr>
      </p:sp>
      <p:sp>
        <p:nvSpPr>
          <p:cNvPr name="TextBox 41" id="41"/>
          <p:cNvSpPr txBox="true"/>
          <p:nvPr/>
        </p:nvSpPr>
        <p:spPr>
          <a:xfrm rot="0">
            <a:off x="3712215" y="6834153"/>
            <a:ext cx="2173187" cy="1137506"/>
          </a:xfrm>
          <a:prstGeom prst="rect">
            <a:avLst/>
          </a:prstGeom>
        </p:spPr>
        <p:txBody>
          <a:bodyPr anchor="t" rtlCol="false" tIns="0" lIns="0" bIns="0" rIns="0">
            <a:spAutoFit/>
          </a:bodyPr>
          <a:lstStyle/>
          <a:p>
            <a:pPr algn="l">
              <a:lnSpc>
                <a:spcPts val="2824"/>
              </a:lnSpc>
            </a:pPr>
            <a:r>
              <a:rPr lang="en-US" sz="2567">
                <a:solidFill>
                  <a:srgbClr val="FFFFFF"/>
                </a:solidFill>
                <a:latin typeface="Agrandir"/>
                <a:ea typeface="Agrandir"/>
                <a:cs typeface="Agrandir"/>
                <a:sym typeface="Agrandir"/>
              </a:rPr>
              <a:t>Mathematical Formula</a:t>
            </a:r>
          </a:p>
          <a:p>
            <a:pPr algn="l">
              <a:lnSpc>
                <a:spcPts val="2824"/>
              </a:lnSpc>
            </a:pPr>
          </a:p>
        </p:txBody>
      </p:sp>
      <p:sp>
        <p:nvSpPr>
          <p:cNvPr name="TextBox 42" id="42"/>
          <p:cNvSpPr txBox="true"/>
          <p:nvPr/>
        </p:nvSpPr>
        <p:spPr>
          <a:xfrm rot="0">
            <a:off x="2630318" y="8593673"/>
            <a:ext cx="6983667" cy="2080840"/>
          </a:xfrm>
          <a:prstGeom prst="rect">
            <a:avLst/>
          </a:prstGeom>
        </p:spPr>
        <p:txBody>
          <a:bodyPr anchor="t" rtlCol="false" tIns="0" lIns="0" bIns="0" rIns="0">
            <a:spAutoFit/>
          </a:bodyPr>
          <a:lstStyle/>
          <a:p>
            <a:pPr algn="l">
              <a:lnSpc>
                <a:spcPts val="3976"/>
              </a:lnSpc>
            </a:pPr>
            <a:r>
              <a:rPr lang="en-US" sz="2967">
                <a:solidFill>
                  <a:srgbClr val="050056"/>
                </a:solidFill>
                <a:latin typeface="Agrandir"/>
                <a:ea typeface="Agrandir"/>
                <a:cs typeface="Agrandir"/>
                <a:sym typeface="Agrandir"/>
              </a:rPr>
              <a:t>Where h is the step size, y_n is the approximation at t_n, and f(t_n, y_n) is the derivative.</a:t>
            </a:r>
          </a:p>
          <a:p>
            <a:pPr algn="l">
              <a:lnSpc>
                <a:spcPts val="3976"/>
              </a:lnSpc>
            </a:pPr>
          </a:p>
        </p:txBody>
      </p:sp>
      <p:sp>
        <p:nvSpPr>
          <p:cNvPr name="TextBox 43" id="43"/>
          <p:cNvSpPr txBox="true"/>
          <p:nvPr/>
        </p:nvSpPr>
        <p:spPr>
          <a:xfrm rot="0">
            <a:off x="2914866" y="6867550"/>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02.</a:t>
            </a:r>
          </a:p>
        </p:txBody>
      </p:sp>
      <p:sp>
        <p:nvSpPr>
          <p:cNvPr name="TextBox 44" id="44"/>
          <p:cNvSpPr txBox="true"/>
          <p:nvPr/>
        </p:nvSpPr>
        <p:spPr>
          <a:xfrm rot="0">
            <a:off x="9396832" y="3978260"/>
            <a:ext cx="7311621" cy="2585665"/>
          </a:xfrm>
          <a:prstGeom prst="rect">
            <a:avLst/>
          </a:prstGeom>
        </p:spPr>
        <p:txBody>
          <a:bodyPr anchor="t" rtlCol="false" tIns="0" lIns="0" bIns="0" rIns="0">
            <a:spAutoFit/>
          </a:bodyPr>
          <a:lstStyle/>
          <a:p>
            <a:pPr algn="l" marL="640663" indent="-320331" lvl="1">
              <a:lnSpc>
                <a:spcPts val="3976"/>
              </a:lnSpc>
              <a:buFont typeface="Arial"/>
              <a:buChar char="•"/>
            </a:pPr>
            <a:r>
              <a:rPr lang="en-US" sz="2967">
                <a:solidFill>
                  <a:srgbClr val="050056"/>
                </a:solidFill>
                <a:latin typeface="Agrandir"/>
                <a:ea typeface="Agrandir"/>
                <a:cs typeface="Agrandir"/>
                <a:sym typeface="Agrandir"/>
              </a:rPr>
              <a:t>Remarkably simple to understand and implement.</a:t>
            </a:r>
          </a:p>
          <a:p>
            <a:pPr algn="l" marL="640663" indent="-320331" lvl="1">
              <a:lnSpc>
                <a:spcPts val="3976"/>
              </a:lnSpc>
              <a:buFont typeface="Arial"/>
              <a:buChar char="•"/>
            </a:pPr>
            <a:r>
              <a:rPr lang="en-US" sz="2967">
                <a:solidFill>
                  <a:srgbClr val="050056"/>
                </a:solidFill>
                <a:latin typeface="Agrandir"/>
                <a:ea typeface="Agrandir"/>
                <a:cs typeface="Agrandir"/>
                <a:sym typeface="Agrandir"/>
              </a:rPr>
              <a:t>Requires minimal computational resources per step.</a:t>
            </a:r>
          </a:p>
          <a:p>
            <a:pPr algn="l">
              <a:lnSpc>
                <a:spcPts val="3976"/>
              </a:lnSpc>
            </a:pPr>
          </a:p>
        </p:txBody>
      </p:sp>
      <p:sp>
        <p:nvSpPr>
          <p:cNvPr name="TextBox 45" id="45"/>
          <p:cNvSpPr txBox="true"/>
          <p:nvPr/>
        </p:nvSpPr>
        <p:spPr>
          <a:xfrm rot="0">
            <a:off x="9144000" y="7567853"/>
            <a:ext cx="9080960" cy="3090490"/>
          </a:xfrm>
          <a:prstGeom prst="rect">
            <a:avLst/>
          </a:prstGeom>
        </p:spPr>
        <p:txBody>
          <a:bodyPr anchor="t" rtlCol="false" tIns="0" lIns="0" bIns="0" rIns="0">
            <a:spAutoFit/>
          </a:bodyPr>
          <a:lstStyle/>
          <a:p>
            <a:pPr algn="l" marL="640663" indent="-320331" lvl="1">
              <a:lnSpc>
                <a:spcPts val="3976"/>
              </a:lnSpc>
              <a:buFont typeface="Arial"/>
              <a:buChar char="•"/>
            </a:pPr>
            <a:r>
              <a:rPr lang="en-US" sz="2967">
                <a:solidFill>
                  <a:srgbClr val="050056"/>
                </a:solidFill>
                <a:latin typeface="Agrandir"/>
                <a:ea typeface="Agrandir"/>
                <a:cs typeface="Agrandir"/>
                <a:sym typeface="Agrandir"/>
              </a:rPr>
              <a:t>Relatively large local truncation error, typically O(h²).</a:t>
            </a:r>
          </a:p>
          <a:p>
            <a:pPr algn="l" marL="640663" indent="-320331" lvl="1">
              <a:lnSpc>
                <a:spcPts val="3976"/>
              </a:lnSpc>
              <a:buFont typeface="Arial"/>
              <a:buChar char="•"/>
            </a:pPr>
            <a:r>
              <a:rPr lang="en-US" sz="2967">
                <a:solidFill>
                  <a:srgbClr val="050056"/>
                </a:solidFill>
                <a:latin typeface="Agrandir"/>
                <a:ea typeface="Agrandir"/>
                <a:cs typeface="Agrandir"/>
                <a:sym typeface="Agrandir"/>
              </a:rPr>
              <a:t>Errors accumulate significantly, leading to poor global accuracy O(h), especially with larger step sizes or longer integration intervals.</a:t>
            </a:r>
          </a:p>
          <a:p>
            <a:pPr algn="l">
              <a:lnSpc>
                <a:spcPts val="3976"/>
              </a:lnSpc>
            </a:pPr>
          </a:p>
        </p:txBody>
      </p:sp>
      <p:sp>
        <p:nvSpPr>
          <p:cNvPr name="TextBox 46" id="46"/>
          <p:cNvSpPr txBox="true"/>
          <p:nvPr/>
        </p:nvSpPr>
        <p:spPr>
          <a:xfrm rot="0">
            <a:off x="10363813" y="6739077"/>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04.</a:t>
            </a:r>
          </a:p>
        </p:txBody>
      </p:sp>
      <p:sp>
        <p:nvSpPr>
          <p:cNvPr name="TextBox 47" id="47"/>
          <p:cNvSpPr txBox="true"/>
          <p:nvPr/>
        </p:nvSpPr>
        <p:spPr>
          <a:xfrm rot="0">
            <a:off x="11470649" y="6768598"/>
            <a:ext cx="2264426" cy="785081"/>
          </a:xfrm>
          <a:prstGeom prst="rect">
            <a:avLst/>
          </a:prstGeom>
        </p:spPr>
        <p:txBody>
          <a:bodyPr anchor="t" rtlCol="false" tIns="0" lIns="0" bIns="0" rIns="0">
            <a:spAutoFit/>
          </a:bodyPr>
          <a:lstStyle/>
          <a:p>
            <a:pPr algn="l">
              <a:lnSpc>
                <a:spcPts val="2824"/>
              </a:lnSpc>
            </a:pPr>
            <a:r>
              <a:rPr lang="en-US" sz="2567">
                <a:solidFill>
                  <a:srgbClr val="FFFFFF"/>
                </a:solidFill>
                <a:latin typeface="Agrandir"/>
                <a:ea typeface="Agrandir"/>
                <a:cs typeface="Agrandir"/>
                <a:sym typeface="Agrandir"/>
              </a:rPr>
              <a:t>Disadvantages</a:t>
            </a:r>
          </a:p>
          <a:p>
            <a:pPr algn="l">
              <a:lnSpc>
                <a:spcPts val="282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4356295" y="4712245"/>
            <a:ext cx="9030759" cy="1717666"/>
          </a:xfrm>
          <a:custGeom>
            <a:avLst/>
            <a:gdLst/>
            <a:ahLst/>
            <a:cxnLst/>
            <a:rect r="r" b="b" t="t" l="l"/>
            <a:pathLst>
              <a:path h="1717666" w="9030759">
                <a:moveTo>
                  <a:pt x="0" y="0"/>
                </a:moveTo>
                <a:lnTo>
                  <a:pt x="9030759" y="0"/>
                </a:lnTo>
                <a:lnTo>
                  <a:pt x="9030759" y="1717666"/>
                </a:lnTo>
                <a:lnTo>
                  <a:pt x="0" y="1717666"/>
                </a:lnTo>
                <a:lnTo>
                  <a:pt x="0" y="0"/>
                </a:lnTo>
                <a:close/>
              </a:path>
            </a:pathLst>
          </a:custGeom>
          <a:blipFill>
            <a:blip r:embed="rId3"/>
            <a:stretch>
              <a:fillRect l="0" t="0" r="0" b="0"/>
            </a:stretch>
          </a:blipFill>
        </p:spPr>
      </p:sp>
      <p:sp>
        <p:nvSpPr>
          <p:cNvPr name="Freeform 7" id="7"/>
          <p:cNvSpPr/>
          <p:nvPr/>
        </p:nvSpPr>
        <p:spPr>
          <a:xfrm flipH="false" flipV="false" rot="0">
            <a:off x="3452251" y="7982486"/>
            <a:ext cx="12199345" cy="2113437"/>
          </a:xfrm>
          <a:custGeom>
            <a:avLst/>
            <a:gdLst/>
            <a:ahLst/>
            <a:cxnLst/>
            <a:rect r="r" b="b" t="t" l="l"/>
            <a:pathLst>
              <a:path h="2113437" w="12199345">
                <a:moveTo>
                  <a:pt x="0" y="0"/>
                </a:moveTo>
                <a:lnTo>
                  <a:pt x="12199344" y="0"/>
                </a:lnTo>
                <a:lnTo>
                  <a:pt x="12199344" y="2113437"/>
                </a:lnTo>
                <a:lnTo>
                  <a:pt x="0" y="2113437"/>
                </a:lnTo>
                <a:lnTo>
                  <a:pt x="0" y="0"/>
                </a:lnTo>
                <a:close/>
              </a:path>
            </a:pathLst>
          </a:custGeom>
          <a:blipFill>
            <a:blip r:embed="rId4"/>
            <a:stretch>
              <a:fillRect l="0" t="0" r="0" b="0"/>
            </a:stretch>
          </a:blipFill>
        </p:spPr>
      </p:sp>
      <p:sp>
        <p:nvSpPr>
          <p:cNvPr name="TextBox 8" id="8"/>
          <p:cNvSpPr txBox="true"/>
          <p:nvPr/>
        </p:nvSpPr>
        <p:spPr>
          <a:xfrm rot="0">
            <a:off x="815846" y="2213392"/>
            <a:ext cx="12497743" cy="1763105"/>
          </a:xfrm>
          <a:prstGeom prst="rect">
            <a:avLst/>
          </a:prstGeom>
        </p:spPr>
        <p:txBody>
          <a:bodyPr anchor="t" rtlCol="false" tIns="0" lIns="0" bIns="0" rIns="0">
            <a:spAutoFit/>
          </a:bodyPr>
          <a:lstStyle/>
          <a:p>
            <a:pPr algn="l">
              <a:lnSpc>
                <a:spcPts val="6875"/>
              </a:lnSpc>
            </a:pPr>
            <a:r>
              <a:rPr lang="en-US" sz="6610">
                <a:solidFill>
                  <a:srgbClr val="050056"/>
                </a:solidFill>
                <a:latin typeface="Anton"/>
                <a:ea typeface="Anton"/>
                <a:cs typeface="Anton"/>
                <a:sym typeface="Anton"/>
              </a:rPr>
              <a:t>HEUN’S METHOD: ENHANCED ACCURACY</a:t>
            </a:r>
          </a:p>
          <a:p>
            <a:pPr algn="l">
              <a:lnSpc>
                <a:spcPts val="6875"/>
              </a:lnSpc>
            </a:pPr>
          </a:p>
        </p:txBody>
      </p:sp>
      <p:sp>
        <p:nvSpPr>
          <p:cNvPr name="TextBox 9" id="9"/>
          <p:cNvSpPr txBox="true"/>
          <p:nvPr/>
        </p:nvSpPr>
        <p:spPr>
          <a:xfrm rot="0">
            <a:off x="815846" y="3381870"/>
            <a:ext cx="13694807" cy="1151153"/>
          </a:xfrm>
          <a:prstGeom prst="rect">
            <a:avLst/>
          </a:prstGeom>
        </p:spPr>
        <p:txBody>
          <a:bodyPr anchor="t" rtlCol="false" tIns="0" lIns="0" bIns="0" rIns="0">
            <a:spAutoFit/>
          </a:bodyPr>
          <a:lstStyle/>
          <a:p>
            <a:pPr algn="just">
              <a:lnSpc>
                <a:spcPts val="2750"/>
              </a:lnSpc>
              <a:spcBef>
                <a:spcPct val="0"/>
              </a:spcBef>
            </a:pPr>
            <a:r>
              <a:rPr lang="en-US" b="true" sz="2644">
                <a:solidFill>
                  <a:srgbClr val="050056"/>
                </a:solidFill>
                <a:latin typeface="Agrandir Bold"/>
                <a:ea typeface="Agrandir Bold"/>
                <a:cs typeface="Agrandir Bold"/>
                <a:sym typeface="Agrandir Bold"/>
              </a:rPr>
              <a:t>PREDICTOR STEP </a:t>
            </a:r>
          </a:p>
          <a:p>
            <a:pPr algn="just">
              <a:lnSpc>
                <a:spcPts val="2750"/>
              </a:lnSpc>
              <a:spcBef>
                <a:spcPct val="0"/>
              </a:spcBef>
            </a:pPr>
          </a:p>
          <a:p>
            <a:pPr algn="just">
              <a:lnSpc>
                <a:spcPts val="2958"/>
              </a:lnSpc>
              <a:spcBef>
                <a:spcPct val="0"/>
              </a:spcBef>
            </a:pPr>
            <a:r>
              <a:rPr lang="en-US" sz="2844">
                <a:solidFill>
                  <a:srgbClr val="000000"/>
                </a:solidFill>
                <a:latin typeface="Agrandir"/>
                <a:ea typeface="Agrandir"/>
                <a:cs typeface="Agrandir"/>
                <a:sym typeface="Agrandir"/>
              </a:rPr>
              <a:t>First, we use Euler's method to predict an initial estimate for the next value, y*n+1</a:t>
            </a:r>
          </a:p>
        </p:txBody>
      </p:sp>
      <p:sp>
        <p:nvSpPr>
          <p:cNvPr name="TextBox 10" id="10"/>
          <p:cNvSpPr txBox="true"/>
          <p:nvPr/>
        </p:nvSpPr>
        <p:spPr>
          <a:xfrm rot="0">
            <a:off x="815846" y="6571032"/>
            <a:ext cx="17229059" cy="1179728"/>
          </a:xfrm>
          <a:prstGeom prst="rect">
            <a:avLst/>
          </a:prstGeom>
        </p:spPr>
        <p:txBody>
          <a:bodyPr anchor="t" rtlCol="false" tIns="0" lIns="0" bIns="0" rIns="0">
            <a:spAutoFit/>
          </a:bodyPr>
          <a:lstStyle/>
          <a:p>
            <a:pPr algn="l">
              <a:lnSpc>
                <a:spcPts val="2854"/>
              </a:lnSpc>
              <a:spcBef>
                <a:spcPct val="0"/>
              </a:spcBef>
            </a:pPr>
            <a:r>
              <a:rPr lang="en-US" b="true" sz="2744">
                <a:solidFill>
                  <a:srgbClr val="050056"/>
                </a:solidFill>
                <a:latin typeface="Agrandir Bold"/>
                <a:ea typeface="Agrandir Bold"/>
                <a:cs typeface="Agrandir Bold"/>
                <a:sym typeface="Agrandir Bold"/>
              </a:rPr>
              <a:t>CORRECTOR STEP </a:t>
            </a:r>
          </a:p>
          <a:p>
            <a:pPr algn="l">
              <a:lnSpc>
                <a:spcPts val="2854"/>
              </a:lnSpc>
              <a:spcBef>
                <a:spcPct val="0"/>
              </a:spcBef>
            </a:pPr>
          </a:p>
          <a:p>
            <a:pPr algn="l">
              <a:lnSpc>
                <a:spcPts val="2854"/>
              </a:lnSpc>
              <a:spcBef>
                <a:spcPct val="0"/>
              </a:spcBef>
            </a:pPr>
            <a:r>
              <a:rPr lang="en-US" sz="2744">
                <a:solidFill>
                  <a:srgbClr val="000000"/>
                </a:solidFill>
                <a:latin typeface="Agrandir"/>
                <a:ea typeface="Agrandir"/>
                <a:cs typeface="Agrandir"/>
                <a:sym typeface="Agrandir"/>
              </a:rPr>
              <a:t>Next, we refine this prediction by averaging the slopes at the beginning and predicted end of the interval.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380415" y="2678071"/>
            <a:ext cx="17907585" cy="1931441"/>
          </a:xfrm>
          <a:prstGeom prst="rect">
            <a:avLst/>
          </a:prstGeom>
        </p:spPr>
        <p:txBody>
          <a:bodyPr anchor="t" rtlCol="false" tIns="0" lIns="0" bIns="0" rIns="0">
            <a:spAutoFit/>
          </a:bodyPr>
          <a:lstStyle/>
          <a:p>
            <a:pPr algn="l">
              <a:lnSpc>
                <a:spcPts val="3686"/>
              </a:lnSpc>
              <a:spcBef>
                <a:spcPct val="0"/>
              </a:spcBef>
            </a:pPr>
            <a:r>
              <a:rPr lang="en-US" b="true" sz="3544">
                <a:solidFill>
                  <a:srgbClr val="050056"/>
                </a:solidFill>
                <a:latin typeface="Agrandir Bold"/>
                <a:ea typeface="Agrandir Bold"/>
                <a:cs typeface="Agrandir Bold"/>
                <a:sym typeface="Agrandir Bold"/>
              </a:rPr>
              <a:t>ACCURACY</a:t>
            </a:r>
          </a:p>
          <a:p>
            <a:pPr algn="l">
              <a:lnSpc>
                <a:spcPts val="2958"/>
              </a:lnSpc>
              <a:spcBef>
                <a:spcPct val="0"/>
              </a:spcBef>
            </a:pPr>
          </a:p>
          <a:p>
            <a:pPr algn="l">
              <a:lnSpc>
                <a:spcPts val="3894"/>
              </a:lnSpc>
              <a:spcBef>
                <a:spcPct val="0"/>
              </a:spcBef>
            </a:pPr>
            <a:r>
              <a:rPr lang="en-US" sz="3744">
                <a:solidFill>
                  <a:srgbClr val="000000"/>
                </a:solidFill>
                <a:latin typeface="Agrandir"/>
                <a:ea typeface="Agrandir"/>
                <a:cs typeface="Agrandir"/>
                <a:sym typeface="Agrandir"/>
              </a:rPr>
              <a:t> Heun's Method is a second-order method, meaning its local truncation error is O(h³), resulting in a global error of O(h²).</a:t>
            </a:r>
          </a:p>
        </p:txBody>
      </p:sp>
      <p:sp>
        <p:nvSpPr>
          <p:cNvPr name="TextBox 7" id="7"/>
          <p:cNvSpPr txBox="true"/>
          <p:nvPr/>
        </p:nvSpPr>
        <p:spPr>
          <a:xfrm rot="0">
            <a:off x="380415" y="6323553"/>
            <a:ext cx="17907585" cy="1571523"/>
          </a:xfrm>
          <a:prstGeom prst="rect">
            <a:avLst/>
          </a:prstGeom>
        </p:spPr>
        <p:txBody>
          <a:bodyPr anchor="t" rtlCol="false" tIns="0" lIns="0" bIns="0" rIns="0">
            <a:spAutoFit/>
          </a:bodyPr>
          <a:lstStyle/>
          <a:p>
            <a:pPr algn="l">
              <a:lnSpc>
                <a:spcPts val="3894"/>
              </a:lnSpc>
              <a:spcBef>
                <a:spcPct val="0"/>
              </a:spcBef>
            </a:pPr>
            <a:r>
              <a:rPr lang="en-US" sz="3744">
                <a:solidFill>
                  <a:srgbClr val="000000"/>
                </a:solidFill>
                <a:latin typeface="Agrandir"/>
                <a:ea typeface="Agrandir"/>
                <a:cs typeface="Agrandir"/>
                <a:sym typeface="Agrandir"/>
              </a:rPr>
              <a:t>This predictor-corrector approach makes Heun’s Method significantly more stable and accurate than the basic Euler’s Method, especially for problems requiring higher precision.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315087" y="1969296"/>
            <a:ext cx="16944213" cy="896330"/>
          </a:xfrm>
          <a:prstGeom prst="rect">
            <a:avLst/>
          </a:prstGeom>
        </p:spPr>
        <p:txBody>
          <a:bodyPr anchor="t" rtlCol="false" tIns="0" lIns="0" bIns="0" rIns="0">
            <a:spAutoFit/>
          </a:bodyPr>
          <a:lstStyle/>
          <a:p>
            <a:pPr algn="l">
              <a:lnSpc>
                <a:spcPts val="6875"/>
              </a:lnSpc>
            </a:pPr>
            <a:r>
              <a:rPr lang="en-US" sz="6610">
                <a:solidFill>
                  <a:srgbClr val="050056"/>
                </a:solidFill>
                <a:latin typeface="Anton"/>
                <a:ea typeface="Anton"/>
                <a:cs typeface="Anton"/>
                <a:sym typeface="Anton"/>
              </a:rPr>
              <a:t>MIDPOINT METHOD: THE CENTRAL APPROXIMATION</a:t>
            </a:r>
          </a:p>
        </p:txBody>
      </p:sp>
      <p:sp>
        <p:nvSpPr>
          <p:cNvPr name="TextBox 7" id="7"/>
          <p:cNvSpPr txBox="true"/>
          <p:nvPr/>
        </p:nvSpPr>
        <p:spPr>
          <a:xfrm rot="0">
            <a:off x="315087" y="3632676"/>
            <a:ext cx="17972913" cy="4484141"/>
          </a:xfrm>
          <a:prstGeom prst="rect">
            <a:avLst/>
          </a:prstGeom>
        </p:spPr>
        <p:txBody>
          <a:bodyPr anchor="t" rtlCol="false" tIns="0" lIns="0" bIns="0" rIns="0">
            <a:spAutoFit/>
          </a:bodyPr>
          <a:lstStyle/>
          <a:p>
            <a:pPr algn="l">
              <a:lnSpc>
                <a:spcPts val="3582"/>
              </a:lnSpc>
              <a:spcBef>
                <a:spcPct val="0"/>
              </a:spcBef>
            </a:pPr>
            <a:r>
              <a:rPr lang="en-US" b="true" sz="3444">
                <a:solidFill>
                  <a:srgbClr val="050056"/>
                </a:solidFill>
                <a:latin typeface="Agrandir Bold"/>
                <a:ea typeface="Agrandir Bold"/>
                <a:cs typeface="Agrandir Bold"/>
                <a:sym typeface="Agrandir Bold"/>
              </a:rPr>
              <a:t>SECOND-ORDER NUMERICAL METHOD </a:t>
            </a:r>
          </a:p>
          <a:p>
            <a:pPr algn="l">
              <a:lnSpc>
                <a:spcPts val="3062"/>
              </a:lnSpc>
              <a:spcBef>
                <a:spcPct val="0"/>
              </a:spcBef>
            </a:pPr>
          </a:p>
          <a:p>
            <a:pPr algn="l">
              <a:lnSpc>
                <a:spcPts val="3998"/>
              </a:lnSpc>
              <a:spcBef>
                <a:spcPct val="0"/>
              </a:spcBef>
            </a:pPr>
            <a:r>
              <a:rPr lang="en-US" sz="3844">
                <a:solidFill>
                  <a:srgbClr val="000000"/>
                </a:solidFill>
                <a:latin typeface="Agrandir"/>
                <a:ea typeface="Agrandir"/>
                <a:cs typeface="Agrandir"/>
                <a:sym typeface="Agrandir"/>
              </a:rPr>
              <a:t>The Midpoint Method, also known as the modified Euler method, is another effective second-order numerical technique for approximating solutions to ODEs.</a:t>
            </a:r>
          </a:p>
          <a:p>
            <a:pPr algn="l">
              <a:lnSpc>
                <a:spcPts val="3998"/>
              </a:lnSpc>
              <a:spcBef>
                <a:spcPct val="0"/>
              </a:spcBef>
            </a:pPr>
          </a:p>
          <a:p>
            <a:pPr algn="l">
              <a:lnSpc>
                <a:spcPts val="3998"/>
              </a:lnSpc>
              <a:spcBef>
                <a:spcPct val="0"/>
              </a:spcBef>
            </a:pPr>
            <a:r>
              <a:rPr lang="en-US" sz="3844">
                <a:solidFill>
                  <a:srgbClr val="000000"/>
                </a:solidFill>
                <a:latin typeface="Agrandir"/>
                <a:ea typeface="Agrandir"/>
                <a:cs typeface="Agrandir"/>
                <a:sym typeface="Agrandir"/>
              </a:rPr>
              <a:t> Its key innovation lies in using the slope evaluated at the midpoint of the interval, rather than just the beginning or end points, leading to improved accuracy.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3279845" y="3690496"/>
            <a:ext cx="11454867" cy="1588408"/>
          </a:xfrm>
          <a:custGeom>
            <a:avLst/>
            <a:gdLst/>
            <a:ahLst/>
            <a:cxnLst/>
            <a:rect r="r" b="b" t="t" l="l"/>
            <a:pathLst>
              <a:path h="1588408" w="11454867">
                <a:moveTo>
                  <a:pt x="0" y="0"/>
                </a:moveTo>
                <a:lnTo>
                  <a:pt x="11454867" y="0"/>
                </a:lnTo>
                <a:lnTo>
                  <a:pt x="11454867" y="1588408"/>
                </a:lnTo>
                <a:lnTo>
                  <a:pt x="0" y="1588408"/>
                </a:lnTo>
                <a:lnTo>
                  <a:pt x="0" y="0"/>
                </a:lnTo>
                <a:close/>
              </a:path>
            </a:pathLst>
          </a:custGeom>
          <a:blipFill>
            <a:blip r:embed="rId3"/>
            <a:stretch>
              <a:fillRect l="0" t="0" r="0" b="0"/>
            </a:stretch>
          </a:blipFill>
        </p:spPr>
      </p:sp>
      <p:sp>
        <p:nvSpPr>
          <p:cNvPr name="TextBox 7" id="7"/>
          <p:cNvSpPr txBox="true"/>
          <p:nvPr/>
        </p:nvSpPr>
        <p:spPr>
          <a:xfrm rot="0">
            <a:off x="621849" y="2521306"/>
            <a:ext cx="7206377" cy="565302"/>
          </a:xfrm>
          <a:prstGeom prst="rect">
            <a:avLst/>
          </a:prstGeom>
        </p:spPr>
        <p:txBody>
          <a:bodyPr anchor="t" rtlCol="false" tIns="0" lIns="0" bIns="0" rIns="0">
            <a:spAutoFit/>
          </a:bodyPr>
          <a:lstStyle/>
          <a:p>
            <a:pPr algn="l">
              <a:lnSpc>
                <a:spcPts val="3582"/>
              </a:lnSpc>
              <a:spcBef>
                <a:spcPct val="0"/>
              </a:spcBef>
            </a:pPr>
            <a:r>
              <a:rPr lang="en-US" b="true" sz="3444">
                <a:solidFill>
                  <a:srgbClr val="000092"/>
                </a:solidFill>
                <a:latin typeface="Agrandir Bold"/>
                <a:ea typeface="Agrandir Bold"/>
                <a:cs typeface="Agrandir Bold"/>
                <a:sym typeface="Agrandir Bold"/>
              </a:rPr>
              <a:t>FORMULA FOR APPROXIMATION</a:t>
            </a:r>
          </a:p>
        </p:txBody>
      </p:sp>
      <p:sp>
        <p:nvSpPr>
          <p:cNvPr name="TextBox 8" id="8"/>
          <p:cNvSpPr txBox="true"/>
          <p:nvPr/>
        </p:nvSpPr>
        <p:spPr>
          <a:xfrm rot="0">
            <a:off x="621849" y="5947116"/>
            <a:ext cx="16882582" cy="3154705"/>
          </a:xfrm>
          <a:prstGeom prst="rect">
            <a:avLst/>
          </a:prstGeom>
        </p:spPr>
        <p:txBody>
          <a:bodyPr anchor="t" rtlCol="false" tIns="0" lIns="0" bIns="0" rIns="0">
            <a:spAutoFit/>
          </a:bodyPr>
          <a:lstStyle/>
          <a:p>
            <a:pPr algn="l">
              <a:lnSpc>
                <a:spcPts val="3998"/>
              </a:lnSpc>
              <a:spcBef>
                <a:spcPct val="0"/>
              </a:spcBef>
            </a:pPr>
            <a:r>
              <a:rPr lang="en-US" sz="3844">
                <a:solidFill>
                  <a:srgbClr val="000000"/>
                </a:solidFill>
                <a:latin typeface="Agrandir"/>
                <a:ea typeface="Agrandir"/>
                <a:cs typeface="Agrandir"/>
                <a:sym typeface="Agrandir"/>
              </a:rPr>
              <a:t>This formula effectively approximates the function value at the midpoint (t_n + h/2) to get a better estimate of the average slope over the interval. </a:t>
            </a:r>
          </a:p>
          <a:p>
            <a:pPr algn="l">
              <a:lnSpc>
                <a:spcPts val="3998"/>
              </a:lnSpc>
              <a:spcBef>
                <a:spcPct val="0"/>
              </a:spcBef>
            </a:pPr>
          </a:p>
          <a:p>
            <a:pPr algn="l">
              <a:lnSpc>
                <a:spcPts val="3998"/>
              </a:lnSpc>
              <a:spcBef>
                <a:spcPct val="0"/>
              </a:spcBef>
            </a:pPr>
            <a:r>
              <a:rPr lang="en-US" sz="3844">
                <a:solidFill>
                  <a:srgbClr val="000000"/>
                </a:solidFill>
                <a:latin typeface="Agrandir"/>
                <a:ea typeface="Agrandir"/>
                <a:cs typeface="Agrandir"/>
                <a:sym typeface="Agrandir"/>
              </a:rPr>
              <a:t>Similar to Heun's Method, the Midpoint Method yields a global error of O(h²), consistently providing a more accurate approximation than Euler’s Method for a given step size.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950460" y="2139506"/>
            <a:ext cx="12309747" cy="892997"/>
          </a:xfrm>
          <a:prstGeom prst="rect">
            <a:avLst/>
          </a:prstGeom>
        </p:spPr>
        <p:txBody>
          <a:bodyPr anchor="t" rtlCol="false" tIns="0" lIns="0" bIns="0" rIns="0">
            <a:spAutoFit/>
          </a:bodyPr>
          <a:lstStyle/>
          <a:p>
            <a:pPr algn="ctr">
              <a:lnSpc>
                <a:spcPts val="6875"/>
              </a:lnSpc>
            </a:pPr>
            <a:r>
              <a:rPr lang="en-US" sz="6610">
                <a:solidFill>
                  <a:srgbClr val="050056"/>
                </a:solidFill>
                <a:latin typeface="Anton"/>
                <a:ea typeface="Anton"/>
                <a:cs typeface="Anton"/>
                <a:sym typeface="Anton"/>
              </a:rPr>
              <a:t>IMPLEMENTATION DETAILS INC++</a:t>
            </a:r>
          </a:p>
        </p:txBody>
      </p:sp>
      <p:sp>
        <p:nvSpPr>
          <p:cNvPr name="TextBox 7" id="7"/>
          <p:cNvSpPr txBox="true"/>
          <p:nvPr/>
        </p:nvSpPr>
        <p:spPr>
          <a:xfrm rot="0">
            <a:off x="229096" y="3155088"/>
            <a:ext cx="18058904" cy="6585991"/>
          </a:xfrm>
          <a:prstGeom prst="rect">
            <a:avLst/>
          </a:prstGeom>
        </p:spPr>
        <p:txBody>
          <a:bodyPr anchor="t" rtlCol="false" tIns="0" lIns="0" bIns="0" rIns="0">
            <a:spAutoFit/>
          </a:bodyPr>
          <a:lstStyle/>
          <a:p>
            <a:pPr algn="l">
              <a:lnSpc>
                <a:spcPts val="3221"/>
              </a:lnSpc>
              <a:spcBef>
                <a:spcPct val="0"/>
              </a:spcBef>
            </a:pPr>
            <a:r>
              <a:rPr lang="en-US" sz="3097">
                <a:solidFill>
                  <a:srgbClr val="000000"/>
                </a:solidFill>
                <a:latin typeface="Agrandir"/>
                <a:ea typeface="Agrandir"/>
                <a:cs typeface="Agrandir"/>
                <a:sym typeface="Agrandir"/>
              </a:rPr>
              <a:t>Our numerical ODE solver was developed using robust C++ programming, focusing on modularity and clear data handling for effective analysis.</a:t>
            </a:r>
          </a:p>
          <a:p>
            <a:pPr algn="l">
              <a:lnSpc>
                <a:spcPts val="3221"/>
              </a:lnSpc>
              <a:spcBef>
                <a:spcPct val="0"/>
              </a:spcBef>
            </a:pPr>
          </a:p>
          <a:p>
            <a:pPr algn="l">
              <a:lnSpc>
                <a:spcPts val="2020"/>
              </a:lnSpc>
              <a:spcBef>
                <a:spcPct val="0"/>
              </a:spcBef>
            </a:pPr>
          </a:p>
          <a:p>
            <a:pPr algn="l">
              <a:lnSpc>
                <a:spcPts val="3455"/>
              </a:lnSpc>
              <a:spcBef>
                <a:spcPct val="0"/>
              </a:spcBef>
            </a:pPr>
            <a:r>
              <a:rPr lang="en-US" b="true" sz="3322">
                <a:solidFill>
                  <a:srgbClr val="050056"/>
                </a:solidFill>
                <a:latin typeface="Agrandir Bold"/>
                <a:ea typeface="Agrandir Bold"/>
                <a:cs typeface="Agrandir Bold"/>
                <a:sym typeface="Agrandir Bold"/>
              </a:rPr>
              <a:t>Modular System:</a:t>
            </a:r>
            <a:r>
              <a:rPr lang="en-US" b="true" sz="3322">
                <a:solidFill>
                  <a:srgbClr val="000000"/>
                </a:solidFill>
                <a:latin typeface="Agrandir Bold"/>
                <a:ea typeface="Agrandir Bold"/>
                <a:cs typeface="Agrandir Bold"/>
                <a:sym typeface="Agrandir Bold"/>
              </a:rPr>
              <a:t> </a:t>
            </a:r>
            <a:r>
              <a:rPr lang="en-US" sz="3322">
                <a:solidFill>
                  <a:srgbClr val="000000"/>
                </a:solidFill>
                <a:latin typeface="Agrandir"/>
                <a:ea typeface="Agrandir"/>
                <a:cs typeface="Agrandir"/>
                <a:sym typeface="Agrandir"/>
              </a:rPr>
              <a:t>We designed a flexible C++ system, utilizing std::vector for efficient data storage and dynamic resizing, and std::ofstream for exporting results to CSV format, enabling easy plotting and analysis.</a:t>
            </a:r>
          </a:p>
          <a:p>
            <a:pPr algn="l">
              <a:lnSpc>
                <a:spcPts val="3455"/>
              </a:lnSpc>
              <a:spcBef>
                <a:spcPct val="0"/>
              </a:spcBef>
            </a:pPr>
          </a:p>
          <a:p>
            <a:pPr algn="l">
              <a:lnSpc>
                <a:spcPts val="2020"/>
              </a:lnSpc>
              <a:spcBef>
                <a:spcPct val="0"/>
              </a:spcBef>
            </a:pPr>
          </a:p>
          <a:p>
            <a:pPr algn="l">
              <a:lnSpc>
                <a:spcPts val="3268"/>
              </a:lnSpc>
              <a:spcBef>
                <a:spcPct val="0"/>
              </a:spcBef>
            </a:pPr>
            <a:r>
              <a:rPr lang="en-US" b="true" sz="3142">
                <a:solidFill>
                  <a:srgbClr val="050056"/>
                </a:solidFill>
                <a:latin typeface="Agrandir Bold"/>
                <a:ea typeface="Agrandir Bold"/>
                <a:cs typeface="Agrandir Bold"/>
                <a:sym typeface="Agrandir Bold"/>
              </a:rPr>
              <a:t>Core Logic: </a:t>
            </a:r>
            <a:r>
              <a:rPr lang="en-US" sz="3142">
                <a:solidFill>
                  <a:srgbClr val="000000"/>
                </a:solidFill>
                <a:latin typeface="Agrandir"/>
                <a:ea typeface="Agrandir"/>
                <a:cs typeface="Agrandir"/>
                <a:sym typeface="Agrandir"/>
              </a:rPr>
              <a:t>The heart of the solver is a time-stepping loop. In each iteration, time t is updated by adding the step size h, and the function value y is updated based on the specific numerical algorithm (Euler, Heun, or Midpoint) being applied.</a:t>
            </a:r>
          </a:p>
          <a:p>
            <a:pPr algn="l">
              <a:lnSpc>
                <a:spcPts val="3268"/>
              </a:lnSpc>
              <a:spcBef>
                <a:spcPct val="0"/>
              </a:spcBef>
            </a:pPr>
          </a:p>
          <a:p>
            <a:pPr algn="l">
              <a:lnSpc>
                <a:spcPts val="2020"/>
              </a:lnSpc>
              <a:spcBef>
                <a:spcPct val="0"/>
              </a:spcBef>
            </a:pPr>
          </a:p>
          <a:p>
            <a:pPr algn="l">
              <a:lnSpc>
                <a:spcPts val="3060"/>
              </a:lnSpc>
              <a:spcBef>
                <a:spcPct val="0"/>
              </a:spcBef>
            </a:pPr>
            <a:r>
              <a:rPr lang="en-US" b="true" sz="2942">
                <a:solidFill>
                  <a:srgbClr val="050056"/>
                </a:solidFill>
                <a:latin typeface="Agrandir Bold"/>
                <a:ea typeface="Agrandir Bold"/>
                <a:cs typeface="Agrandir Bold"/>
                <a:sym typeface="Agrandir Bold"/>
              </a:rPr>
              <a:t>Validation:</a:t>
            </a:r>
            <a:r>
              <a:rPr lang="en-US" b="true" sz="2942">
                <a:solidFill>
                  <a:srgbClr val="000000"/>
                </a:solidFill>
                <a:latin typeface="Agrandir Bold"/>
                <a:ea typeface="Agrandir Bold"/>
                <a:cs typeface="Agrandir Bold"/>
                <a:sym typeface="Agrandir Bold"/>
              </a:rPr>
              <a:t> </a:t>
            </a:r>
            <a:r>
              <a:rPr lang="en-US" sz="2942">
                <a:solidFill>
                  <a:srgbClr val="000000"/>
                </a:solidFill>
                <a:latin typeface="Agrandir"/>
                <a:ea typeface="Agrandir"/>
                <a:cs typeface="Agrandir"/>
                <a:sym typeface="Agrandir"/>
              </a:rPr>
              <a:t>To rigorously assess the accuracy of each method, we simultaneously computed the "Exact Solution" at every time step. This allowed us to precisely measure the true Global Error accumulated by each numerical approximation.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79083" y="707678"/>
            <a:ext cx="13740982" cy="4646594"/>
          </a:xfrm>
          <a:custGeom>
            <a:avLst/>
            <a:gdLst/>
            <a:ahLst/>
            <a:cxnLst/>
            <a:rect r="r" b="b" t="t" l="l"/>
            <a:pathLst>
              <a:path h="4646594" w="13740982">
                <a:moveTo>
                  <a:pt x="0" y="0"/>
                </a:moveTo>
                <a:lnTo>
                  <a:pt x="13740982" y="0"/>
                </a:lnTo>
                <a:lnTo>
                  <a:pt x="13740982" y="4646594"/>
                </a:lnTo>
                <a:lnTo>
                  <a:pt x="0" y="4646594"/>
                </a:lnTo>
                <a:lnTo>
                  <a:pt x="0" y="0"/>
                </a:lnTo>
                <a:close/>
              </a:path>
            </a:pathLst>
          </a:custGeom>
          <a:blipFill>
            <a:blip r:embed="rId2"/>
            <a:stretch>
              <a:fillRect l="0" t="0" r="-566" b="0"/>
            </a:stretch>
          </a:blipFill>
        </p:spPr>
      </p:sp>
      <p:sp>
        <p:nvSpPr>
          <p:cNvPr name="Freeform 3" id="3"/>
          <p:cNvSpPr/>
          <p:nvPr/>
        </p:nvSpPr>
        <p:spPr>
          <a:xfrm flipH="false" flipV="false" rot="0">
            <a:off x="2379083" y="6055694"/>
            <a:ext cx="13943710" cy="3669967"/>
          </a:xfrm>
          <a:custGeom>
            <a:avLst/>
            <a:gdLst/>
            <a:ahLst/>
            <a:cxnLst/>
            <a:rect r="r" b="b" t="t" l="l"/>
            <a:pathLst>
              <a:path h="3669967" w="13943710">
                <a:moveTo>
                  <a:pt x="0" y="0"/>
                </a:moveTo>
                <a:lnTo>
                  <a:pt x="13943711" y="0"/>
                </a:lnTo>
                <a:lnTo>
                  <a:pt x="13943711" y="3669967"/>
                </a:lnTo>
                <a:lnTo>
                  <a:pt x="0" y="3669967"/>
                </a:lnTo>
                <a:lnTo>
                  <a:pt x="0" y="0"/>
                </a:lnTo>
                <a:close/>
              </a:path>
            </a:pathLst>
          </a:custGeom>
          <a:blipFill>
            <a:blip r:embed="rId3"/>
            <a:stretch>
              <a:fillRect l="0" t="-1529" r="0" b="-1529"/>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333945" y="3451835"/>
            <a:ext cx="17954055" cy="6037097"/>
          </a:xfrm>
          <a:prstGeom prst="rect">
            <a:avLst/>
          </a:prstGeom>
        </p:spPr>
        <p:txBody>
          <a:bodyPr anchor="t" rtlCol="false" tIns="0" lIns="0" bIns="0" rIns="0">
            <a:spAutoFit/>
          </a:bodyPr>
          <a:lstStyle/>
          <a:p>
            <a:pPr algn="l">
              <a:lnSpc>
                <a:spcPts val="3270"/>
              </a:lnSpc>
              <a:spcBef>
                <a:spcPct val="0"/>
              </a:spcBef>
            </a:pPr>
            <a:r>
              <a:rPr lang="en-US" sz="3144">
                <a:solidFill>
                  <a:srgbClr val="000000"/>
                </a:solidFill>
                <a:latin typeface="Agrandir"/>
                <a:ea typeface="Agrandir"/>
                <a:cs typeface="Agrandir"/>
                <a:sym typeface="Agrandir"/>
              </a:rPr>
              <a:t>To compare the numerical methods, we established a controlled experiment using a well-known differential equation with an available analytical solution.</a:t>
            </a:r>
          </a:p>
          <a:p>
            <a:pPr algn="l">
              <a:lnSpc>
                <a:spcPts val="2334"/>
              </a:lnSpc>
              <a:spcBef>
                <a:spcPct val="0"/>
              </a:spcBef>
            </a:pPr>
          </a:p>
          <a:p>
            <a:pPr algn="l">
              <a:lnSpc>
                <a:spcPts val="3062"/>
              </a:lnSpc>
              <a:spcBef>
                <a:spcPct val="0"/>
              </a:spcBef>
            </a:pPr>
            <a:r>
              <a:rPr lang="en-US" b="true" sz="2944">
                <a:solidFill>
                  <a:srgbClr val="050056"/>
                </a:solidFill>
                <a:latin typeface="Agrandir Bold"/>
                <a:ea typeface="Agrandir Bold"/>
                <a:cs typeface="Agrandir Bold"/>
                <a:sym typeface="Agrandir Bold"/>
              </a:rPr>
              <a:t>Test ODE: </a:t>
            </a:r>
            <a:r>
              <a:rPr lang="en-US" sz="2944">
                <a:solidFill>
                  <a:srgbClr val="000000"/>
                </a:solidFill>
                <a:latin typeface="Agrandir"/>
                <a:ea typeface="Agrandir"/>
                <a:cs typeface="Agrandir"/>
                <a:sym typeface="Agrandir"/>
              </a:rPr>
              <a:t>We chose the linear first-order ODE: y^2 = y 2  t^2 + 1. This equation provides a challenging yet tractable test case for our numerical solvers.</a:t>
            </a:r>
          </a:p>
          <a:p>
            <a:pPr algn="l">
              <a:lnSpc>
                <a:spcPts val="2334"/>
              </a:lnSpc>
              <a:spcBef>
                <a:spcPct val="0"/>
              </a:spcBef>
            </a:pPr>
          </a:p>
          <a:p>
            <a:pPr algn="l">
              <a:lnSpc>
                <a:spcPts val="2646"/>
              </a:lnSpc>
              <a:spcBef>
                <a:spcPct val="0"/>
              </a:spcBef>
            </a:pPr>
            <a:r>
              <a:rPr lang="en-US" b="true" sz="2544">
                <a:solidFill>
                  <a:srgbClr val="050056"/>
                </a:solidFill>
                <a:latin typeface="Agrandir Bold"/>
                <a:ea typeface="Agrandir Bold"/>
                <a:cs typeface="Agrandir Bold"/>
                <a:sym typeface="Agrandir Bold"/>
              </a:rPr>
              <a:t>CONDITIONS:</a:t>
            </a:r>
          </a:p>
          <a:p>
            <a:pPr algn="l">
              <a:lnSpc>
                <a:spcPts val="2334"/>
              </a:lnSpc>
              <a:spcBef>
                <a:spcPct val="0"/>
              </a:spcBef>
            </a:pPr>
          </a:p>
          <a:p>
            <a:pPr algn="l">
              <a:lnSpc>
                <a:spcPts val="3166"/>
              </a:lnSpc>
              <a:spcBef>
                <a:spcPct val="0"/>
              </a:spcBef>
            </a:pPr>
            <a:r>
              <a:rPr lang="en-US" b="true" sz="3044">
                <a:solidFill>
                  <a:srgbClr val="050056"/>
                </a:solidFill>
                <a:latin typeface="Agrandir Bold"/>
                <a:ea typeface="Agrandir Bold"/>
                <a:cs typeface="Agrandir Bold"/>
                <a:sym typeface="Agrandir Bold"/>
              </a:rPr>
              <a:t>Domain: </a:t>
            </a:r>
            <a:r>
              <a:rPr lang="en-US" sz="3044">
                <a:solidFill>
                  <a:srgbClr val="000000"/>
                </a:solidFill>
                <a:latin typeface="Agrandir"/>
                <a:ea typeface="Agrandir"/>
                <a:cs typeface="Agrandir"/>
                <a:sym typeface="Agrandir"/>
              </a:rPr>
              <a:t>We integrated the ODE over the interval 0 f t f  2.</a:t>
            </a:r>
          </a:p>
          <a:p>
            <a:pPr algn="l">
              <a:lnSpc>
                <a:spcPts val="3166"/>
              </a:lnSpc>
              <a:spcBef>
                <a:spcPct val="0"/>
              </a:spcBef>
            </a:pPr>
            <a:r>
              <a:rPr lang="en-US" b="true" sz="3044">
                <a:solidFill>
                  <a:srgbClr val="050056"/>
                </a:solidFill>
                <a:latin typeface="Agrandir Bold"/>
                <a:ea typeface="Agrandir Bold"/>
                <a:cs typeface="Agrandir Bold"/>
                <a:sym typeface="Agrandir Bold"/>
              </a:rPr>
              <a:t>Initial Condition:</a:t>
            </a:r>
            <a:r>
              <a:rPr lang="en-US" sz="3044">
                <a:solidFill>
                  <a:srgbClr val="050056"/>
                </a:solidFill>
                <a:latin typeface="Agrandir"/>
                <a:ea typeface="Agrandir"/>
                <a:cs typeface="Agrandir"/>
                <a:sym typeface="Agrandir"/>
              </a:rPr>
              <a:t> </a:t>
            </a:r>
            <a:r>
              <a:rPr lang="en-US" sz="3044">
                <a:solidFill>
                  <a:srgbClr val="000000"/>
                </a:solidFill>
                <a:latin typeface="Agrandir"/>
                <a:ea typeface="Agrandir"/>
                <a:cs typeface="Agrandir"/>
                <a:sym typeface="Agrandir"/>
              </a:rPr>
              <a:t>A precise starting point was set at y(0) = 0.5.</a:t>
            </a:r>
          </a:p>
          <a:p>
            <a:pPr algn="l">
              <a:lnSpc>
                <a:spcPts val="3582"/>
              </a:lnSpc>
              <a:spcBef>
                <a:spcPct val="0"/>
              </a:spcBef>
            </a:pPr>
            <a:r>
              <a:rPr lang="en-US" b="true" sz="3444">
                <a:solidFill>
                  <a:srgbClr val="050056"/>
                </a:solidFill>
                <a:latin typeface="Agrandir Bold"/>
                <a:ea typeface="Agrandir Bold"/>
                <a:cs typeface="Agrandir Bold"/>
                <a:sym typeface="Agrandir Bold"/>
              </a:rPr>
              <a:t>Step Size: </a:t>
            </a:r>
            <a:r>
              <a:rPr lang="en-US" sz="3444">
                <a:solidFill>
                  <a:srgbClr val="000000"/>
                </a:solidFill>
                <a:latin typeface="Agrandir"/>
                <a:ea typeface="Agrandir"/>
                <a:cs typeface="Agrandir"/>
                <a:sym typeface="Agrandir"/>
              </a:rPr>
              <a:t>A consistent step size of h = 0.1 was used across all methods for direct comparison.</a:t>
            </a:r>
          </a:p>
          <a:p>
            <a:pPr algn="l">
              <a:lnSpc>
                <a:spcPts val="2334"/>
              </a:lnSpc>
              <a:spcBef>
                <a:spcPct val="0"/>
              </a:spcBef>
            </a:pPr>
          </a:p>
          <a:p>
            <a:pPr algn="l">
              <a:lnSpc>
                <a:spcPts val="2334"/>
              </a:lnSpc>
              <a:spcBef>
                <a:spcPct val="0"/>
              </a:spcBef>
            </a:pPr>
          </a:p>
          <a:p>
            <a:pPr algn="l">
              <a:lnSpc>
                <a:spcPts val="3374"/>
              </a:lnSpc>
              <a:spcBef>
                <a:spcPct val="0"/>
              </a:spcBef>
            </a:pPr>
            <a:r>
              <a:rPr lang="en-US" b="true" sz="3244">
                <a:solidFill>
                  <a:srgbClr val="050056"/>
                </a:solidFill>
                <a:latin typeface="Agrandir Bold"/>
                <a:ea typeface="Agrandir Bold"/>
                <a:cs typeface="Agrandir Bold"/>
                <a:sym typeface="Agrandir Bold"/>
              </a:rPr>
              <a:t>Reference: </a:t>
            </a:r>
            <a:r>
              <a:rPr lang="en-US" sz="3244">
                <a:solidFill>
                  <a:srgbClr val="000000"/>
                </a:solidFill>
                <a:latin typeface="Agrandir"/>
                <a:ea typeface="Agrandir"/>
                <a:cs typeface="Agrandir"/>
                <a:sym typeface="Agrandir"/>
              </a:rPr>
              <a:t>The exact solution for this ODE, y(t) = (t + 1)^2 2 0.5e^t, served as our ground truth for error calculation and accuracy validation.</a:t>
            </a:r>
          </a:p>
        </p:txBody>
      </p:sp>
      <p:sp>
        <p:nvSpPr>
          <p:cNvPr name="TextBox 7" id="7"/>
          <p:cNvSpPr txBox="true"/>
          <p:nvPr/>
        </p:nvSpPr>
        <p:spPr>
          <a:xfrm rot="0">
            <a:off x="-1035345" y="2287880"/>
            <a:ext cx="12309747" cy="892997"/>
          </a:xfrm>
          <a:prstGeom prst="rect">
            <a:avLst/>
          </a:prstGeom>
        </p:spPr>
        <p:txBody>
          <a:bodyPr anchor="t" rtlCol="false" tIns="0" lIns="0" bIns="0" rIns="0">
            <a:spAutoFit/>
          </a:bodyPr>
          <a:lstStyle/>
          <a:p>
            <a:pPr algn="ctr">
              <a:lnSpc>
                <a:spcPts val="6875"/>
              </a:lnSpc>
            </a:pPr>
            <a:r>
              <a:rPr lang="en-US" sz="6610">
                <a:solidFill>
                  <a:srgbClr val="050056"/>
                </a:solidFill>
                <a:latin typeface="Anton"/>
                <a:ea typeface="Anton"/>
                <a:cs typeface="Anton"/>
                <a:sym typeface="Anton"/>
              </a:rPr>
              <a:t>NUMERICAL EXPERIMENT SETUP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360761" y="2239445"/>
            <a:ext cx="15378578" cy="896330"/>
          </a:xfrm>
          <a:prstGeom prst="rect">
            <a:avLst/>
          </a:prstGeom>
        </p:spPr>
        <p:txBody>
          <a:bodyPr anchor="t" rtlCol="false" tIns="0" lIns="0" bIns="0" rIns="0">
            <a:spAutoFit/>
          </a:bodyPr>
          <a:lstStyle/>
          <a:p>
            <a:pPr algn="l">
              <a:lnSpc>
                <a:spcPts val="6875"/>
              </a:lnSpc>
            </a:pPr>
            <a:r>
              <a:rPr lang="en-US" sz="6610">
                <a:solidFill>
                  <a:srgbClr val="050056"/>
                </a:solidFill>
                <a:latin typeface="Anton"/>
                <a:ea typeface="Anton"/>
                <a:cs typeface="Anton"/>
                <a:sym typeface="Anton"/>
              </a:rPr>
              <a:t>NUMERICAL EXPERIMENTS &amp; RESULTS ANALYSIS</a:t>
            </a:r>
          </a:p>
        </p:txBody>
      </p:sp>
      <p:sp>
        <p:nvSpPr>
          <p:cNvPr name="TextBox 7" id="7"/>
          <p:cNvSpPr txBox="true"/>
          <p:nvPr/>
        </p:nvSpPr>
        <p:spPr>
          <a:xfrm rot="0">
            <a:off x="360761" y="3978042"/>
            <a:ext cx="18288000" cy="4667529"/>
          </a:xfrm>
          <a:prstGeom prst="rect">
            <a:avLst/>
          </a:prstGeom>
        </p:spPr>
        <p:txBody>
          <a:bodyPr anchor="t" rtlCol="false" tIns="0" lIns="0" bIns="0" rIns="0">
            <a:spAutoFit/>
          </a:bodyPr>
          <a:lstStyle/>
          <a:p>
            <a:pPr algn="l">
              <a:lnSpc>
                <a:spcPts val="3062"/>
              </a:lnSpc>
              <a:spcBef>
                <a:spcPct val="0"/>
              </a:spcBef>
            </a:pPr>
            <a:r>
              <a:rPr lang="en-US" b="true" sz="2944">
                <a:solidFill>
                  <a:srgbClr val="050056"/>
                </a:solidFill>
                <a:latin typeface="Agrandir Bold"/>
                <a:ea typeface="Agrandir Bold"/>
                <a:cs typeface="Agrandir Bold"/>
                <a:sym typeface="Agrandir Bold"/>
              </a:rPr>
              <a:t>TEST PROBLEM DEFINED</a:t>
            </a:r>
          </a:p>
          <a:p>
            <a:pPr algn="l">
              <a:lnSpc>
                <a:spcPts val="3062"/>
              </a:lnSpc>
              <a:spcBef>
                <a:spcPct val="0"/>
              </a:spcBef>
            </a:pPr>
          </a:p>
          <a:p>
            <a:pPr algn="l">
              <a:lnSpc>
                <a:spcPts val="3790"/>
              </a:lnSpc>
              <a:spcBef>
                <a:spcPct val="0"/>
              </a:spcBef>
            </a:pPr>
            <a:r>
              <a:rPr lang="en-US" sz="3644">
                <a:solidFill>
                  <a:srgbClr val="000000"/>
                </a:solidFill>
                <a:latin typeface="Agrandir"/>
                <a:ea typeface="Agrandir"/>
                <a:cs typeface="Agrandir"/>
                <a:sym typeface="Agrandir"/>
              </a:rPr>
              <a:t>We employed a specific initial value problem to evaluate the performance of each method: </a:t>
            </a:r>
          </a:p>
          <a:p>
            <a:pPr algn="l">
              <a:lnSpc>
                <a:spcPts val="3790"/>
              </a:lnSpc>
              <a:spcBef>
                <a:spcPct val="0"/>
              </a:spcBef>
            </a:pPr>
          </a:p>
          <a:p>
            <a:pPr algn="ctr">
              <a:lnSpc>
                <a:spcPts val="3790"/>
              </a:lnSpc>
              <a:spcBef>
                <a:spcPct val="0"/>
              </a:spcBef>
            </a:pPr>
            <a:r>
              <a:rPr lang="en-US" sz="3644">
                <a:solidFill>
                  <a:srgbClr val="000000"/>
                </a:solidFill>
                <a:latin typeface="Agrandir"/>
                <a:ea typeface="Agrandir"/>
                <a:cs typeface="Agrandir"/>
                <a:sym typeface="Agrandir"/>
              </a:rPr>
              <a:t>y’ =  y-  t^2 +  1</a:t>
            </a:r>
          </a:p>
          <a:p>
            <a:pPr algn="ctr">
              <a:lnSpc>
                <a:spcPts val="3790"/>
              </a:lnSpc>
              <a:spcBef>
                <a:spcPct val="0"/>
              </a:spcBef>
            </a:pPr>
            <a:r>
              <a:rPr lang="en-US" sz="3644">
                <a:solidFill>
                  <a:srgbClr val="000000"/>
                </a:solidFill>
                <a:latin typeface="Agrandir"/>
                <a:ea typeface="Agrandir"/>
                <a:cs typeface="Agrandir"/>
                <a:sym typeface="Agrandir"/>
              </a:rPr>
              <a:t> y(0) = 0.5</a:t>
            </a:r>
          </a:p>
          <a:p>
            <a:pPr algn="l">
              <a:lnSpc>
                <a:spcPts val="3790"/>
              </a:lnSpc>
              <a:spcBef>
                <a:spcPct val="0"/>
              </a:spcBef>
            </a:pPr>
          </a:p>
          <a:p>
            <a:pPr algn="l">
              <a:lnSpc>
                <a:spcPts val="3790"/>
              </a:lnSpc>
              <a:spcBef>
                <a:spcPct val="0"/>
              </a:spcBef>
            </a:pPr>
            <a:r>
              <a:rPr lang="en-US" sz="3644">
                <a:solidFill>
                  <a:srgbClr val="000000"/>
                </a:solidFill>
                <a:latin typeface="Agrandir"/>
                <a:ea typeface="Agrandir"/>
                <a:cs typeface="Agrandir"/>
                <a:sym typeface="Agrandir"/>
              </a:rPr>
              <a:t> With a consistent step size of h = . across all experiments, allowing for a fair comparison of accuracy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464002" y="2256400"/>
            <a:ext cx="2829520" cy="521106"/>
          </a:xfrm>
          <a:prstGeom prst="rect">
            <a:avLst/>
          </a:prstGeom>
        </p:spPr>
        <p:txBody>
          <a:bodyPr anchor="t" rtlCol="false" tIns="0" lIns="0" bIns="0" rIns="0">
            <a:spAutoFit/>
          </a:bodyPr>
          <a:lstStyle/>
          <a:p>
            <a:pPr algn="ctr">
              <a:lnSpc>
                <a:spcPts val="3270"/>
              </a:lnSpc>
              <a:spcBef>
                <a:spcPct val="0"/>
              </a:spcBef>
            </a:pPr>
            <a:r>
              <a:rPr lang="en-US" b="true" sz="3144">
                <a:solidFill>
                  <a:srgbClr val="050056"/>
                </a:solidFill>
                <a:latin typeface="Agrandir Bold"/>
                <a:ea typeface="Agrandir Bold"/>
                <a:cs typeface="Agrandir Bold"/>
                <a:sym typeface="Agrandir Bold"/>
              </a:rPr>
              <a:t>KEY FINDINGS</a:t>
            </a:r>
          </a:p>
        </p:txBody>
      </p:sp>
      <p:sp>
        <p:nvSpPr>
          <p:cNvPr name="TextBox 7" id="7"/>
          <p:cNvSpPr txBox="true"/>
          <p:nvPr/>
        </p:nvSpPr>
        <p:spPr>
          <a:xfrm rot="0">
            <a:off x="464002" y="3169386"/>
            <a:ext cx="17823998" cy="5736361"/>
          </a:xfrm>
          <a:prstGeom prst="rect">
            <a:avLst/>
          </a:prstGeom>
        </p:spPr>
        <p:txBody>
          <a:bodyPr anchor="t" rtlCol="false" tIns="0" lIns="0" bIns="0" rIns="0">
            <a:spAutoFit/>
          </a:bodyPr>
          <a:lstStyle/>
          <a:p>
            <a:pPr algn="l">
              <a:lnSpc>
                <a:spcPts val="3270"/>
              </a:lnSpc>
            </a:pPr>
            <a:r>
              <a:rPr lang="en-US" b="true" sz="3144">
                <a:solidFill>
                  <a:srgbClr val="050056"/>
                </a:solidFill>
                <a:latin typeface="Agrandir Bold"/>
                <a:ea typeface="Agrandir Bold"/>
                <a:cs typeface="Agrandir Bold"/>
                <a:sym typeface="Agrandir Bold"/>
              </a:rPr>
              <a:t>EULER’S METHOD:</a:t>
            </a:r>
          </a:p>
          <a:p>
            <a:pPr algn="l">
              <a:lnSpc>
                <a:spcPts val="2750"/>
              </a:lnSpc>
            </a:pPr>
          </a:p>
          <a:p>
            <a:pPr algn="l">
              <a:lnSpc>
                <a:spcPts val="3790"/>
              </a:lnSpc>
            </a:pPr>
            <a:r>
              <a:rPr lang="en-US" b="true" sz="3644">
                <a:solidFill>
                  <a:srgbClr val="050056"/>
                </a:solidFill>
                <a:latin typeface="Agrandir Bold"/>
                <a:ea typeface="Agrandir Bold"/>
                <a:cs typeface="Agrandir Bold"/>
                <a:sym typeface="Agrandir Bold"/>
              </a:rPr>
              <a:t> </a:t>
            </a:r>
            <a:r>
              <a:rPr lang="en-US" sz="3644">
                <a:solidFill>
                  <a:srgbClr val="000000"/>
                </a:solidFill>
                <a:latin typeface="Agrandir"/>
                <a:ea typeface="Agrandir"/>
                <a:cs typeface="Agrandir"/>
                <a:sym typeface="Agrandir"/>
              </a:rPr>
              <a:t>Demonstrated a noticeable deviation from the exact solution, highlighting its lower  accuracy. </a:t>
            </a:r>
          </a:p>
          <a:p>
            <a:pPr algn="l">
              <a:lnSpc>
                <a:spcPts val="3374"/>
              </a:lnSpc>
            </a:pPr>
          </a:p>
          <a:p>
            <a:pPr algn="l">
              <a:lnSpc>
                <a:spcPts val="3270"/>
              </a:lnSpc>
            </a:pPr>
            <a:r>
              <a:rPr lang="en-US" b="true" sz="3144">
                <a:solidFill>
                  <a:srgbClr val="050056"/>
                </a:solidFill>
                <a:latin typeface="Agrandir Bold"/>
                <a:ea typeface="Agrandir Bold"/>
                <a:cs typeface="Agrandir Bold"/>
                <a:sym typeface="Agrandir Bold"/>
              </a:rPr>
              <a:t>HEUN’S &amp; MIDPOINT METHODS:</a:t>
            </a:r>
          </a:p>
          <a:p>
            <a:pPr algn="l">
              <a:lnSpc>
                <a:spcPts val="3166"/>
              </a:lnSpc>
            </a:pPr>
          </a:p>
          <a:p>
            <a:pPr algn="l">
              <a:lnSpc>
                <a:spcPts val="3790"/>
              </a:lnSpc>
            </a:pPr>
            <a:r>
              <a:rPr lang="en-US" sz="3644">
                <a:solidFill>
                  <a:srgbClr val="000000"/>
                </a:solidFill>
                <a:latin typeface="Agrandir"/>
                <a:ea typeface="Agrandir"/>
                <a:cs typeface="Agrandir"/>
                <a:sym typeface="Agrandir"/>
              </a:rPr>
              <a:t>Showed excellent agreement with the exact solution, closely tracking its behaviour.</a:t>
            </a:r>
          </a:p>
          <a:p>
            <a:pPr algn="l">
              <a:lnSpc>
                <a:spcPts val="3374"/>
              </a:lnSpc>
            </a:pPr>
          </a:p>
          <a:p>
            <a:pPr algn="l">
              <a:lnSpc>
                <a:spcPts val="3374"/>
              </a:lnSpc>
            </a:pPr>
            <a:r>
              <a:rPr lang="en-US" b="true" sz="3244">
                <a:solidFill>
                  <a:srgbClr val="050056"/>
                </a:solidFill>
                <a:latin typeface="Agrandir Bold"/>
                <a:ea typeface="Agrandir Bold"/>
                <a:cs typeface="Agrandir Bold"/>
                <a:sym typeface="Agrandir Bold"/>
              </a:rPr>
              <a:t>ERROR CONVERGENCE:</a:t>
            </a:r>
            <a:r>
              <a:rPr lang="en-US" sz="3244">
                <a:solidFill>
                  <a:srgbClr val="050056"/>
                </a:solidFill>
                <a:latin typeface="Agrandir"/>
                <a:ea typeface="Agrandir"/>
                <a:cs typeface="Agrandir"/>
                <a:sym typeface="Agrandir"/>
              </a:rPr>
              <a:t> </a:t>
            </a:r>
          </a:p>
          <a:p>
            <a:pPr algn="l">
              <a:lnSpc>
                <a:spcPts val="3374"/>
              </a:lnSpc>
            </a:pPr>
          </a:p>
          <a:p>
            <a:pPr algn="l">
              <a:lnSpc>
                <a:spcPts val="3790"/>
              </a:lnSpc>
            </a:pPr>
            <a:r>
              <a:rPr lang="en-US" sz="3644">
                <a:solidFill>
                  <a:srgbClr val="000000"/>
                </a:solidFill>
                <a:latin typeface="Agrandir"/>
                <a:ea typeface="Agrandir"/>
                <a:cs typeface="Agrandir"/>
                <a:sym typeface="Agrandir"/>
              </a:rPr>
              <a:t>Confirmed that both Heun's and the Midpoint Method exhibited O(h²) convergence, as theoretically predicted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4471224" y="2031402"/>
            <a:ext cx="8334613" cy="565302"/>
          </a:xfrm>
          <a:prstGeom prst="rect">
            <a:avLst/>
          </a:prstGeom>
        </p:spPr>
        <p:txBody>
          <a:bodyPr anchor="t" rtlCol="false" tIns="0" lIns="0" bIns="0" rIns="0">
            <a:spAutoFit/>
          </a:bodyPr>
          <a:lstStyle/>
          <a:p>
            <a:pPr algn="ctr">
              <a:lnSpc>
                <a:spcPts val="3582"/>
              </a:lnSpc>
              <a:spcBef>
                <a:spcPct val="0"/>
              </a:spcBef>
            </a:pPr>
            <a:r>
              <a:rPr lang="en-US" b="true" sz="3444">
                <a:solidFill>
                  <a:srgbClr val="050056"/>
                </a:solidFill>
                <a:latin typeface="Agrandir Bold"/>
                <a:ea typeface="Agrandir Bold"/>
                <a:cs typeface="Agrandir Bold"/>
                <a:sym typeface="Agrandir Bold"/>
              </a:rPr>
              <a:t>CONCLUSION &amp; RECOMMENDATIONS</a:t>
            </a:r>
          </a:p>
        </p:txBody>
      </p:sp>
      <p:sp>
        <p:nvSpPr>
          <p:cNvPr name="TextBox 7" id="7"/>
          <p:cNvSpPr txBox="true"/>
          <p:nvPr/>
        </p:nvSpPr>
        <p:spPr>
          <a:xfrm rot="0">
            <a:off x="757292" y="2568129"/>
            <a:ext cx="17530708" cy="1566824"/>
          </a:xfrm>
          <a:prstGeom prst="rect">
            <a:avLst/>
          </a:prstGeom>
        </p:spPr>
        <p:txBody>
          <a:bodyPr anchor="t" rtlCol="false" tIns="0" lIns="0" bIns="0" rIns="0">
            <a:spAutoFit/>
          </a:bodyPr>
          <a:lstStyle/>
          <a:p>
            <a:pPr algn="l">
              <a:lnSpc>
                <a:spcPts val="2958"/>
              </a:lnSpc>
              <a:spcBef>
                <a:spcPct val="0"/>
              </a:spcBef>
            </a:pPr>
            <a:r>
              <a:rPr lang="en-US" b="true" sz="2844">
                <a:solidFill>
                  <a:srgbClr val="050056"/>
                </a:solidFill>
                <a:latin typeface="Agrandir Bold"/>
                <a:ea typeface="Agrandir Bold"/>
                <a:cs typeface="Agrandir Bold"/>
                <a:sym typeface="Agrandir Bold"/>
              </a:rPr>
              <a:t>EULER’S METHOD </a:t>
            </a:r>
          </a:p>
          <a:p>
            <a:pPr algn="l">
              <a:lnSpc>
                <a:spcPts val="2126"/>
              </a:lnSpc>
              <a:spcBef>
                <a:spcPct val="0"/>
              </a:spcBef>
            </a:pPr>
          </a:p>
          <a:p>
            <a:pPr algn="l">
              <a:lnSpc>
                <a:spcPts val="3374"/>
              </a:lnSpc>
              <a:spcBef>
                <a:spcPct val="0"/>
              </a:spcBef>
            </a:pPr>
            <a:r>
              <a:rPr lang="en-US" sz="3244">
                <a:solidFill>
                  <a:srgbClr val="000000"/>
                </a:solidFill>
                <a:latin typeface="Agrandir"/>
                <a:ea typeface="Agrandir"/>
                <a:cs typeface="Agrandir"/>
                <a:sym typeface="Agrandir"/>
              </a:rPr>
              <a:t>Simple to implement but sacrifices accuracy. It's generally not recommended for problems requiring high precision due to its O(h) global error.</a:t>
            </a:r>
          </a:p>
        </p:txBody>
      </p:sp>
      <p:sp>
        <p:nvSpPr>
          <p:cNvPr name="TextBox 8" id="8"/>
          <p:cNvSpPr txBox="true"/>
          <p:nvPr/>
        </p:nvSpPr>
        <p:spPr>
          <a:xfrm rot="0">
            <a:off x="757292" y="4200803"/>
            <a:ext cx="17530708" cy="1671599"/>
          </a:xfrm>
          <a:prstGeom prst="rect">
            <a:avLst/>
          </a:prstGeom>
        </p:spPr>
        <p:txBody>
          <a:bodyPr anchor="t" rtlCol="false" tIns="0" lIns="0" bIns="0" rIns="0">
            <a:spAutoFit/>
          </a:bodyPr>
          <a:lstStyle/>
          <a:p>
            <a:pPr algn="l">
              <a:lnSpc>
                <a:spcPts val="2958"/>
              </a:lnSpc>
              <a:spcBef>
                <a:spcPct val="0"/>
              </a:spcBef>
            </a:pPr>
            <a:r>
              <a:rPr lang="en-US" b="true" sz="2844">
                <a:solidFill>
                  <a:srgbClr val="050056"/>
                </a:solidFill>
                <a:latin typeface="Agrandir Bold"/>
                <a:ea typeface="Agrandir Bold"/>
                <a:cs typeface="Agrandir Bold"/>
                <a:sym typeface="Agrandir Bold"/>
              </a:rPr>
              <a:t>HEUN’S &amp; MIDPOINT</a:t>
            </a:r>
          </a:p>
          <a:p>
            <a:pPr algn="l">
              <a:lnSpc>
                <a:spcPts val="2958"/>
              </a:lnSpc>
              <a:spcBef>
                <a:spcPct val="0"/>
              </a:spcBef>
            </a:pPr>
          </a:p>
          <a:p>
            <a:pPr algn="l">
              <a:lnSpc>
                <a:spcPts val="3374"/>
              </a:lnSpc>
              <a:spcBef>
                <a:spcPct val="0"/>
              </a:spcBef>
            </a:pPr>
            <a:r>
              <a:rPr lang="en-US" sz="3244">
                <a:solidFill>
                  <a:srgbClr val="000000"/>
                </a:solidFill>
                <a:latin typeface="Agrandir"/>
                <a:ea typeface="Agrandir"/>
                <a:cs typeface="Agrandir"/>
                <a:sym typeface="Agrandir"/>
              </a:rPr>
              <a:t> Both methods offer significantly improved accuracy and stability with a global error of O(h²), making them suitable for a broader range of applications.</a:t>
            </a:r>
          </a:p>
        </p:txBody>
      </p:sp>
      <p:sp>
        <p:nvSpPr>
          <p:cNvPr name="TextBox 9" id="9"/>
          <p:cNvSpPr txBox="true"/>
          <p:nvPr/>
        </p:nvSpPr>
        <p:spPr>
          <a:xfrm rot="0">
            <a:off x="757292" y="6062902"/>
            <a:ext cx="17530708" cy="1671599"/>
          </a:xfrm>
          <a:prstGeom prst="rect">
            <a:avLst/>
          </a:prstGeom>
        </p:spPr>
        <p:txBody>
          <a:bodyPr anchor="t" rtlCol="false" tIns="0" lIns="0" bIns="0" rIns="0">
            <a:spAutoFit/>
          </a:bodyPr>
          <a:lstStyle/>
          <a:p>
            <a:pPr algn="l">
              <a:lnSpc>
                <a:spcPts val="2958"/>
              </a:lnSpc>
              <a:spcBef>
                <a:spcPct val="0"/>
              </a:spcBef>
            </a:pPr>
            <a:r>
              <a:rPr lang="en-US" b="true" sz="2844">
                <a:solidFill>
                  <a:srgbClr val="050056"/>
                </a:solidFill>
                <a:latin typeface="Agrandir Bold"/>
                <a:ea typeface="Agrandir Bold"/>
                <a:cs typeface="Agrandir Bold"/>
                <a:sym typeface="Agrandir Bold"/>
              </a:rPr>
              <a:t>FASTER CONVERGENCE </a:t>
            </a:r>
          </a:p>
          <a:p>
            <a:pPr algn="l">
              <a:lnSpc>
                <a:spcPts val="2958"/>
              </a:lnSpc>
              <a:spcBef>
                <a:spcPct val="0"/>
              </a:spcBef>
            </a:pPr>
          </a:p>
          <a:p>
            <a:pPr algn="l">
              <a:lnSpc>
                <a:spcPts val="3374"/>
              </a:lnSpc>
              <a:spcBef>
                <a:spcPct val="0"/>
              </a:spcBef>
            </a:pPr>
            <a:r>
              <a:rPr lang="en-US" sz="3244">
                <a:solidFill>
                  <a:srgbClr val="000000"/>
                </a:solidFill>
                <a:latin typeface="Agrandir"/>
                <a:ea typeface="Agrandir"/>
                <a:cs typeface="Agrandir"/>
                <a:sym typeface="Agrandir"/>
              </a:rPr>
              <a:t>Second-order methods like Heun9s and Midpoint converge much faster to the true solution as the step size (h) decreases, providing reliable results efficiently</a:t>
            </a:r>
          </a:p>
        </p:txBody>
      </p:sp>
      <p:sp>
        <p:nvSpPr>
          <p:cNvPr name="TextBox 10" id="10"/>
          <p:cNvSpPr txBox="true"/>
          <p:nvPr/>
        </p:nvSpPr>
        <p:spPr>
          <a:xfrm rot="0">
            <a:off x="757292" y="7905116"/>
            <a:ext cx="17530708" cy="2033549"/>
          </a:xfrm>
          <a:prstGeom prst="rect">
            <a:avLst/>
          </a:prstGeom>
        </p:spPr>
        <p:txBody>
          <a:bodyPr anchor="t" rtlCol="false" tIns="0" lIns="0" bIns="0" rIns="0">
            <a:spAutoFit/>
          </a:bodyPr>
          <a:lstStyle/>
          <a:p>
            <a:pPr algn="l">
              <a:lnSpc>
                <a:spcPts val="2958"/>
              </a:lnSpc>
              <a:spcBef>
                <a:spcPct val="0"/>
              </a:spcBef>
            </a:pPr>
            <a:r>
              <a:rPr lang="en-US" b="true" sz="2844">
                <a:solidFill>
                  <a:srgbClr val="050056"/>
                </a:solidFill>
                <a:latin typeface="Agrandir Bold"/>
                <a:ea typeface="Agrandir Bold"/>
                <a:cs typeface="Agrandir Bold"/>
                <a:sym typeface="Agrandir Bold"/>
              </a:rPr>
              <a:t>RECOMMENDATION</a:t>
            </a:r>
          </a:p>
          <a:p>
            <a:pPr algn="l">
              <a:lnSpc>
                <a:spcPts val="2542"/>
              </a:lnSpc>
              <a:spcBef>
                <a:spcPct val="0"/>
              </a:spcBef>
            </a:pPr>
          </a:p>
          <a:p>
            <a:pPr algn="l">
              <a:lnSpc>
                <a:spcPts val="3374"/>
              </a:lnSpc>
              <a:spcBef>
                <a:spcPct val="0"/>
              </a:spcBef>
            </a:pPr>
            <a:r>
              <a:rPr lang="en-US" sz="3244">
                <a:solidFill>
                  <a:srgbClr val="000000"/>
                </a:solidFill>
                <a:latin typeface="Agrandir"/>
                <a:ea typeface="Agrandir"/>
                <a:cs typeface="Agrandir"/>
                <a:sym typeface="Agrandir"/>
              </a:rPr>
              <a:t> For most practical problems where a balance between implementation complexity and accuracy is needed, Heun’s Method is often recommended due to its robustness and improved performance over Euler's Method.</a:t>
            </a: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a:gsLst>
            <a:gs pos="0">
              <a:srgbClr val="0C2756">
                <a:alpha val="100000"/>
              </a:srgbClr>
            </a:gs>
            <a:gs pos="100000">
              <a:srgbClr val="1E527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7558578" y="-1201787"/>
            <a:ext cx="13008829" cy="130088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9B9B">
                    <a:alpha val="0"/>
                  </a:srgbClr>
                </a:gs>
                <a:gs pos="100000">
                  <a:srgbClr val="FFFFFF">
                    <a:alpha val="77000"/>
                  </a:srgbClr>
                </a:gs>
              </a:gsLst>
              <a:lin ang="0"/>
            </a:gradFill>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126"/>
                </a:lnSpc>
              </a:pPr>
            </a:p>
          </p:txBody>
        </p:sp>
      </p:grpSp>
      <p:sp>
        <p:nvSpPr>
          <p:cNvPr name="TextBox 5" id="5"/>
          <p:cNvSpPr txBox="true"/>
          <p:nvPr/>
        </p:nvSpPr>
        <p:spPr>
          <a:xfrm rot="0">
            <a:off x="6846088" y="3611582"/>
            <a:ext cx="5881764" cy="4255914"/>
          </a:xfrm>
          <a:prstGeom prst="rect">
            <a:avLst/>
          </a:prstGeom>
        </p:spPr>
        <p:txBody>
          <a:bodyPr anchor="t" rtlCol="false" tIns="0" lIns="0" bIns="0" rIns="0">
            <a:spAutoFit/>
          </a:bodyPr>
          <a:lstStyle/>
          <a:p>
            <a:pPr algn="l">
              <a:lnSpc>
                <a:spcPts val="16415"/>
              </a:lnSpc>
            </a:pPr>
            <a:r>
              <a:rPr lang="en-US" sz="15784">
                <a:solidFill>
                  <a:srgbClr val="FFFFFF"/>
                </a:solidFill>
                <a:latin typeface="Anton"/>
                <a:ea typeface="Anton"/>
                <a:cs typeface="Anton"/>
                <a:sym typeface="Anton"/>
              </a:rPr>
              <a:t>THANK</a:t>
            </a:r>
          </a:p>
          <a:p>
            <a:pPr algn="l">
              <a:lnSpc>
                <a:spcPts val="16415"/>
              </a:lnSpc>
            </a:pPr>
            <a:r>
              <a:rPr lang="en-US" sz="15784">
                <a:solidFill>
                  <a:srgbClr val="FFFFFF"/>
                </a:solidFill>
                <a:latin typeface="Anton"/>
                <a:ea typeface="Anton"/>
                <a:cs typeface="Anton"/>
                <a:sym typeface="Anton"/>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DAG-X8ae0_Q</dc:identifier>
  <dcterms:modified xsi:type="dcterms:W3CDTF">2011-08-01T06:04:30Z</dcterms:modified>
  <cp:revision>1</cp:revision>
  <dc:title>Numerical Method</dc:title>
</cp:coreProperties>
</file>